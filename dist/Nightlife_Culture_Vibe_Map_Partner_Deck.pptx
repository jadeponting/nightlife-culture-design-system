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embeddedFontLst>
    <p:embeddedFont>
      <p:font typeface="Archivo" pitchFamily="2" charset="0"/>
      <p:bold r:id="rIdNcFont1"/>
    </p:embeddedFont>
    <p:embeddedFont>
      <p:font typeface="Archivo Black" pitchFamily="2" charset="0"/>
      <p:regular r:id="rIdNcFont2"/>
    </p:embeddedFont>
    <p:embeddedFont>
      <p:font typeface="Inter" pitchFamily="2" charset="0"/>
      <p:regular r:id="rIdNcFont3"/>
    </p:embeddedFont>
    <p:embeddedFont>
      <p:font typeface="Inter SemiBold" pitchFamily="2" charset="0"/>
      <p:regular r:id="rIdNcFont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be Map partner deck" id="{becd2fa2-995e-f6f7-c6d5-17ba7fc5eb4a}">
          <p14:sldIdLst>
            <p14:sldId id="256"/>
            <p14:sldId id="257"/>
            <p14:sldId id="258"/>
            <p14:sldId id="259"/>
            <p14:sldId id="260"/>
            <p14:sldId id="261"/>
            <p14:sldId id="262"/>
            <p14:sldId id="263"/>
            <p14:sldId id="264"/>
            <p14:sldId id="265"/>
            <p14:sldId id="266"/>
            <p14:sldId id="267"/>
            <p14:sldId id="268"/>
          </p14:sldIdLst>
        </p14:section>
        <p14:section name="Optional slides" id="{4239ef03-210d-ae77-14ac-856e456472e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NcFont1" Target="fonts/font1.fntdata" Type="http://schemas.openxmlformats.org/officeDocument/2006/relationships/font"/><Relationship Id="rIdNcFont2" Target="fonts/font2.fntdata" Type="http://schemas.openxmlformats.org/officeDocument/2006/relationships/font"/><Relationship Id="rIdNcFont3" Target="fonts/font3.fntdata" Type="http://schemas.openxmlformats.org/officeDocument/2006/relationships/font"/><Relationship Id="rIdNcFont4" Target="fonts/font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Civic infrastructure here means the gathering places and relationships through which people participate in shared cultural life. This opening speaks from inside that culture; it does not claim Nightlife Culture represents every scene.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DJ, MC and audience example explains a relationship, not a claim that every encounter produces a new genre. The argument includes both everyday belonging and creative discovery. Different communities need room to develop their own cultural lives.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2</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Inside local government, I repeatedly assembled evidence that could describe the size of the night time economy while struggling to explain its cultural life. The problem is what our measures can recognise and how we use them. Unusual patterns deserve investigation; they are not automatically proof of cultural significance.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3</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Nightlife Culture draws on experience inside nightlife, cultural institutions and local government. Its work extends to convening, policy design and investment models. The optional founder slide gives that experience more space for audiences meeting Carly for the first time.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4</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flyer is a design analogy, not a prescribed interface. We will test familiar forms of nightlife communication for recognition, accessibility and accurate interpretation. Geography may be one way into the evidence; the project is broader than a directory of venues.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5</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funded phase tests the proposition and develops the evidence, method and public prototype together. It does not promise a finished national service or assume that the hypotheses have been demonstrated. Delivery dates and any named launch commitments should be confirmed separately before publication.</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6</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the three propositions in MASTER. The wider working hypothesis is that a shared evidence foundation, developed with its users and connected to collaborative policy work, can give nightlife greater influence. Both its usefulness and its limits need testing.</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7</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Cultural practitioners are central to co-design and interpretation. The architecture retains three decision-user groups; it does not make creators a fourth category or reduce them to a research sample.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8</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club-night example illustrates a research route, not a completed finding. Listings reflect the activity they cover; missing listings cannot establish that no activity exists. Public information and any partnership data need appropriate access and interpretation. New quantitative collection is considered only where a material gap requires it.</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9</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the established project buckets, not five sequential work packages. Visual storytelling and interaction sit within Technology and draw on the other four buckets. Methodological development is itself a project output.</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10</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cycles apply the existing creative policy method: Listen → Map → Ideate → Prototype → Test → Refine → Expand. They describe repeated development, not a fixed sequence with consultation at the end. The optional method slide explains the practice in more detail.</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11</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wider studio ambition. Better evidence alone does not redistribute power: convening, collective priorities and action matter. Specific future commissions, interventions and outcomes remain to be developed and are not additional funded commitments.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12</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13</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Founder introduction · Insert after slide 04 for people meeting Carly for the first time.
This is a founder introduction, not a claim that former employers or organisations endorse Vibe Map. The cultural argument is also informed by Raymond Williams’s Culture Is Ordinary, a foundation Carly identifies from her university years.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14</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Research example · Insert after slide 09 for data and research collaborators.
The example comes from Carly’s writing and solo recording. It challenges the assumption that success means progressing to a larger venue. It does not establish a resident-DJ metric, a score for belonging or a causal link between repeat listings and cultural significance.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15</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Method in more detail · Insert after slide 11 for delivery and policy collaborators.
This is the studio’s established method, used across Vibe Map’s five development cycles. It is not a second project architecture.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16</a:t>
            </a:fld>
            <a:endParaRPr lang="en-GB"/>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2488179"/>
            <a:ext cx="2182262" cy="51096"/>
          </a:xfrm>
          <a:prstGeom prst="rect">
            <a:avLst/>
          </a:prstGeom>
          <a:solidFill>
            <a:srgbClr val="ED77C2"/>
          </a:solidFill>
          <a:ln/>
        </p:spPr>
      </p:sp>
      <p:sp>
        <p:nvSpPr>
          <p:cNvPr id="3" name="Text 1"/>
          <p:cNvSpPr/>
          <p:nvPr/>
        </p:nvSpPr>
        <p:spPr>
          <a:xfrm>
            <a:off x="639945" y="1490228"/>
            <a:ext cx="11026102" cy="1088699"/>
          </a:xfrm>
          <a:prstGeom prst="rect">
            <a:avLst/>
          </a:prstGeom>
          <a:noFill/>
          <a:ln/>
        </p:spPr>
        <p:txBody>
          <a:bodyPr wrap="square" lIns="0" tIns="0" rIns="0" bIns="0" rtlCol="0" anchor="t"/>
          <a:lstStyle/>
          <a:p>
            <a:pPr algn="l" indent="0" marL="0">
              <a:lnSpc>
                <a:spcPts val="6860"/>
              </a:lnSpc>
              <a:buNone/>
            </a:pPr>
            <a:r>
              <a:rPr lang="en-GB" sz="7070" spc="-71" kern="0" dirty="0" cap="all">
                <a:solidFill>
                  <a:srgbClr val="FFFFFF"/>
                </a:solidFill>
                <a:latin typeface="Archivo Black" pitchFamily="34" charset="0"/>
                <a:ea typeface="Archivo Black" pitchFamily="34" charset="-122"/>
                <a:cs typeface="Archivo Black" pitchFamily="34" charset="-120"/>
              </a:rPr>
              <a:t>Nightlife Culture</a:t>
            </a:r>
            <a:endParaRPr lang="en-GB" sz="7070" dirty="0"/>
          </a:p>
        </p:txBody>
      </p:sp>
      <p:sp>
        <p:nvSpPr>
          <p:cNvPr id="4" name="Text 2"/>
          <p:cNvSpPr/>
          <p:nvPr/>
        </p:nvSpPr>
        <p:spPr>
          <a:xfrm>
            <a:off x="639945" y="2666272"/>
            <a:ext cx="11026102" cy="521755"/>
          </a:xfrm>
          <a:prstGeom prst="rect">
            <a:avLst/>
          </a:prstGeom>
          <a:noFill/>
          <a:ln/>
        </p:spPr>
        <p:txBody>
          <a:bodyPr wrap="square" lIns="0" tIns="0" rIns="0" bIns="0" rtlCol="0" anchor="t"/>
          <a:lstStyle/>
          <a:p>
            <a:pPr algn="l" indent="0" marL="0">
              <a:lnSpc>
                <a:spcPts val="3290"/>
              </a:lnSpc>
              <a:buNone/>
            </a:pPr>
            <a:r>
              <a:rPr lang="en-GB" sz="2740" dirty="0">
                <a:solidFill>
                  <a:srgbClr val="FFFFFF"/>
                </a:solidFill>
                <a:latin typeface="Inter SemiBold" pitchFamily="34" charset="0"/>
                <a:ea typeface="Inter SemiBold" pitchFamily="34" charset="-122"/>
                <a:cs typeface="Inter SemiBold" pitchFamily="34" charset="-120"/>
              </a:rPr>
              <a:t>Nightlife is civic infrastructure. Its purpose is collective joy.</a:t>
            </a:r>
            <a:endParaRPr lang="en-GB" sz="2740" dirty="0"/>
          </a:p>
        </p:txBody>
      </p:sp>
      <p:sp>
        <p:nvSpPr>
          <p:cNvPr id="5" name="Text 3"/>
          <p:cNvSpPr/>
          <p:nvPr/>
        </p:nvSpPr>
        <p:spPr>
          <a:xfrm>
            <a:off x="639945" y="3210638"/>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We create the places people gather. We build scenes, connections and belonging. We give</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places their identity.</a:t>
            </a:r>
            <a:endParaRPr lang="en-GB" sz="1950" dirty="0"/>
          </a:p>
        </p:txBody>
      </p:sp>
      <p:sp>
        <p:nvSpPr>
          <p:cNvPr id="6" name="Text 4"/>
          <p:cNvSpPr/>
          <p:nvPr/>
        </p:nvSpPr>
        <p:spPr>
          <a:xfrm>
            <a:off x="639945" y="3941532"/>
            <a:ext cx="11026102" cy="981367"/>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The basement venues that anchor a scene. The places you don’t wear your good shoes,</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but always meet a friend you didn’t yet know. The promoters taking a punt on something</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weird and wonderful. The people who turn up and make it happen.</a:t>
            </a:r>
            <a:endParaRPr lang="en-GB" sz="1950" dirty="0"/>
          </a:p>
        </p:txBody>
      </p:sp>
      <p:sp>
        <p:nvSpPr>
          <p:cNvPr id="7" name="Text 5"/>
          <p:cNvSpPr/>
          <p:nvPr/>
        </p:nvSpPr>
        <p:spPr>
          <a:xfrm>
            <a:off x="639945" y="4974373"/>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53E6E5"/>
                </a:solidFill>
                <a:latin typeface="Inter SemiBold" pitchFamily="34" charset="0"/>
                <a:ea typeface="Inter SemiBold" pitchFamily="34" charset="-122"/>
                <a:cs typeface="Inter SemiBold" pitchFamily="34" charset="-120"/>
              </a:rPr>
              <a:t>The people make the place. We are the vibe creators.</a:t>
            </a:r>
            <a:endParaRPr lang="en-GB"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3032711"/>
            <a:ext cx="2182262" cy="51096"/>
          </a:xfrm>
          <a:prstGeom prst="rect">
            <a:avLst/>
          </a:prstGeom>
          <a:solidFill>
            <a:srgbClr val="FFFFFF"/>
          </a:solidFill>
          <a:ln/>
        </p:spPr>
      </p:sp>
      <p:sp>
        <p:nvSpPr>
          <p:cNvPr id="3" name="Text 1"/>
          <p:cNvSpPr/>
          <p:nvPr/>
        </p:nvSpPr>
        <p:spPr>
          <a:xfrm>
            <a:off x="639945" y="457056"/>
            <a:ext cx="11026102" cy="1662772"/>
          </a:xfrm>
          <a:prstGeom prst="rect">
            <a:avLst/>
          </a:prstGeom>
          <a:noFill/>
          <a:ln/>
        </p:spPr>
        <p:txBody>
          <a:bodyPr wrap="square" lIns="0" tIns="0" rIns="0" bIns="0" rtlCol="0" anchor="t"/>
          <a:lstStyle/>
          <a:p>
            <a:pPr algn="l" indent="0" marL="0">
              <a:lnSpc>
                <a:spcPts val="5820"/>
              </a:lnSpc>
              <a:buNone/>
            </a:pPr>
            <a:r>
              <a:rPr lang="en-GB" sz="6000" spc="-60" kern="0" dirty="0" cap="all">
                <a:solidFill>
                  <a:srgbClr val="FFFFFF"/>
                </a:solidFill>
                <a:latin typeface="Archivo Black" pitchFamily="34" charset="0"/>
                <a:ea typeface="Archivo Black" pitchFamily="34" charset="-122"/>
                <a:cs typeface="Archivo Black" pitchFamily="34" charset="-120"/>
              </a:rPr>
              <a:t>Culture happens</a:t>
            </a:r>
            <a:br/>
            <a:pPr algn="l" indent="0" marL="0">
              <a:lnSpc>
                <a:spcPts val="5820"/>
              </a:lnSpc>
              <a:buNone/>
            </a:pPr>
            <a:r>
              <a:rPr lang="en-GB" sz="6000" spc="-60" kern="0" dirty="0" cap="all">
                <a:solidFill>
                  <a:srgbClr val="FFFFFF"/>
                </a:solidFill>
                <a:latin typeface="Archivo Black" pitchFamily="34" charset="0"/>
                <a:ea typeface="Archivo Black" pitchFamily="34" charset="-122"/>
                <a:cs typeface="Archivo Black" pitchFamily="34" charset="-120"/>
              </a:rPr>
              <a:t>between people</a:t>
            </a:r>
            <a:endParaRPr lang="en-GB" sz="6000" dirty="0"/>
          </a:p>
        </p:txBody>
      </p:sp>
      <p:sp>
        <p:nvSpPr>
          <p:cNvPr id="4" name="Text 2"/>
          <p:cNvSpPr/>
          <p:nvPr/>
        </p:nvSpPr>
        <p:spPr>
          <a:xfrm>
            <a:off x="639945" y="3210804"/>
            <a:ext cx="11026102" cy="981367"/>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A DJ responds to a room. The room responds to the DJ. An MC catches someone’s energy</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and takes the moment somewhere else. Something happens that none of them could have</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made alone.</a:t>
            </a:r>
            <a:endParaRPr lang="en-GB" sz="1950" dirty="0"/>
          </a:p>
        </p:txBody>
      </p:sp>
      <p:sp>
        <p:nvSpPr>
          <p:cNvPr id="5" name="Text 3"/>
          <p:cNvSpPr/>
          <p:nvPr/>
        </p:nvSpPr>
        <p:spPr>
          <a:xfrm>
            <a:off x="639945" y="4243645"/>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The audience isn’t simply consuming a cultural product. It’s participating in its creation.</a:t>
            </a:r>
            <a:endParaRPr lang="en-GB" sz="1950" dirty="0"/>
          </a:p>
        </p:txBody>
      </p:sp>
      <p:sp>
        <p:nvSpPr>
          <p:cNvPr id="6" name="Text 4"/>
          <p:cNvSpPr/>
          <p:nvPr/>
        </p:nvSpPr>
        <p:spPr>
          <a:xfrm>
            <a:off x="639945" y="4672590"/>
            <a:ext cx="11026102" cy="981367"/>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Someone takes an unexpected combination of sounds back to the studio. A promoter</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keeps gathering people until a night becomes a scene. Through participation,</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experimentation and collective imagination, culture keeps changing.</a:t>
            </a:r>
            <a:endParaRPr lang="en-GB" sz="1950" dirty="0"/>
          </a:p>
        </p:txBody>
      </p:sp>
      <p:sp>
        <p:nvSpPr>
          <p:cNvPr id="7" name="Text 5"/>
          <p:cNvSpPr/>
          <p:nvPr/>
        </p:nvSpPr>
        <p:spPr>
          <a:xfrm>
            <a:off x="639945" y="5705432"/>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Our gathering places give us room to find ourselves and each other. A healthy music</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ecosystem makes space for different sounds, communities and ways of belonging.</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39945" y="2490328"/>
            <a:ext cx="2182262" cy="51096"/>
          </a:xfrm>
          <a:prstGeom prst="rect">
            <a:avLst/>
          </a:prstGeom>
          <a:solidFill>
            <a:srgbClr val="ED77C2"/>
          </a:solidFill>
          <a:ln/>
        </p:spPr>
      </p:sp>
      <p:sp>
        <p:nvSpPr>
          <p:cNvPr id="3" name="Text 1"/>
          <p:cNvSpPr/>
          <p:nvPr/>
        </p:nvSpPr>
        <p:spPr>
          <a:xfrm>
            <a:off x="639945" y="457056"/>
            <a:ext cx="11026102" cy="1199912"/>
          </a:xfrm>
          <a:prstGeom prst="rect">
            <a:avLst/>
          </a:prstGeom>
          <a:noFill/>
          <a:ln/>
        </p:spPr>
        <p:txBody>
          <a:bodyPr wrap="square" lIns="0" tIns="0" rIns="0" bIns="0" rtlCol="0" anchor="t"/>
          <a:lstStyle/>
          <a:p>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We keep counting.</a:t>
            </a:r>
            <a:br/>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What are we seeing?</a:t>
            </a:r>
            <a:endParaRPr lang="en-GB" sz="4330" dirty="0"/>
          </a:p>
        </p:txBody>
      </p:sp>
      <p:sp>
        <p:nvSpPr>
          <p:cNvPr id="4" name="Text 2"/>
          <p:cNvSpPr/>
          <p:nvPr/>
        </p:nvSpPr>
        <p:spPr>
          <a:xfrm>
            <a:off x="639945" y="1650628"/>
            <a:ext cx="11026102" cy="801798"/>
          </a:xfrm>
          <a:prstGeom prst="rect">
            <a:avLst/>
          </a:prstGeom>
          <a:noFill/>
          <a:ln/>
        </p:spPr>
        <p:txBody>
          <a:bodyPr wrap="square" lIns="0" tIns="0" rIns="0" bIns="0" rtlCol="0" anchor="t"/>
          <a:lstStyle/>
          <a:p>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We’re very good at counting the things that are easy to count. But are we</a:t>
            </a:r>
            <a:br/>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measuring the things that matter?</a:t>
            </a:r>
            <a:endParaRPr lang="en-GB" sz="2300" dirty="0"/>
          </a:p>
        </p:txBody>
      </p:sp>
      <p:sp>
        <p:nvSpPr>
          <p:cNvPr id="5" name="Text 3"/>
          <p:cNvSpPr/>
          <p:nvPr/>
        </p:nvSpPr>
        <p:spPr>
          <a:xfrm>
            <a:off x="639945" y="2668422"/>
            <a:ext cx="5379208" cy="906114"/>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Buildings. Businesses. Capacity. Jobs. Ticket sales. Useful measures, but they cannot tell us the whole story of a scene.</a:t>
            </a:r>
            <a:endParaRPr lang="en-GB" sz="1800" dirty="0"/>
          </a:p>
        </p:txBody>
      </p:sp>
      <p:sp>
        <p:nvSpPr>
          <p:cNvPr id="6" name="Text 4"/>
          <p:cNvSpPr/>
          <p:nvPr/>
        </p:nvSpPr>
        <p:spPr>
          <a:xfrm>
            <a:off x="639945" y="3568313"/>
            <a:ext cx="5379208" cy="1184912"/>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What’s the lifetime value of a resident DJ who keeps a community coming back? An arena isn’t everybody’s destination. Something small in the totals can be an anchor for the people around it.</a:t>
            </a:r>
            <a:endParaRPr lang="en-GB" sz="1800" dirty="0"/>
          </a:p>
        </p:txBody>
      </p:sp>
      <p:sp>
        <p:nvSpPr>
          <p:cNvPr id="7" name="Text 5"/>
          <p:cNvSpPr/>
          <p:nvPr/>
        </p:nvSpPr>
        <p:spPr>
          <a:xfrm>
            <a:off x="6286674" y="2668422"/>
            <a:ext cx="5379374"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You can have a city full of nightlife businesses without understanding its cultural life. When the activity sustaining a scene falls outside the categories used to recognise it, its needs are harder to make visible in policy and investment.</a:t>
            </a:r>
            <a:endParaRPr lang="en-GB" sz="1800" dirty="0"/>
          </a:p>
        </p:txBody>
      </p:sp>
      <p:sp>
        <p:nvSpPr>
          <p:cNvPr id="8" name="Text 6"/>
          <p:cNvSpPr/>
          <p:nvPr/>
        </p:nvSpPr>
        <p:spPr>
          <a:xfrm>
            <a:off x="639945" y="6007380"/>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53E6E5"/>
                </a:solidFill>
                <a:latin typeface="Inter SemiBold" pitchFamily="34" charset="0"/>
                <a:ea typeface="Inter SemiBold" pitchFamily="34" charset="-122"/>
                <a:cs typeface="Inter SemiBold" pitchFamily="34" charset="-120"/>
              </a:rPr>
              <a:t>If we keep measuring the same things, we’ll keep telling the same story.</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2901745"/>
            <a:ext cx="2182262" cy="51096"/>
          </a:xfrm>
          <a:prstGeom prst="rect">
            <a:avLst/>
          </a:prstGeom>
          <a:solidFill>
            <a:srgbClr val="FFFFFF"/>
          </a:solidFill>
          <a:ln/>
        </p:spPr>
      </p:sp>
      <p:sp>
        <p:nvSpPr>
          <p:cNvPr id="3" name="Text 1"/>
          <p:cNvSpPr/>
          <p:nvPr/>
        </p:nvSpPr>
        <p:spPr>
          <a:xfrm>
            <a:off x="639945" y="457056"/>
            <a:ext cx="11026102" cy="1662772"/>
          </a:xfrm>
          <a:prstGeom prst="rect">
            <a:avLst/>
          </a:prstGeom>
          <a:noFill/>
          <a:ln/>
        </p:spPr>
        <p:txBody>
          <a:bodyPr wrap="square" lIns="0" tIns="0" rIns="0" bIns="0" rtlCol="0" anchor="t"/>
          <a:lstStyle/>
          <a:p>
            <a:pPr algn="l" indent="0" marL="0">
              <a:lnSpc>
                <a:spcPts val="5820"/>
              </a:lnSpc>
              <a:buNone/>
            </a:pPr>
            <a:r>
              <a:rPr lang="en-GB" sz="6000" spc="-60" kern="0" dirty="0" cap="all">
                <a:solidFill>
                  <a:srgbClr val="FFFFFF"/>
                </a:solidFill>
                <a:latin typeface="Archivo Black" pitchFamily="34" charset="0"/>
                <a:ea typeface="Archivo Black" pitchFamily="34" charset="-122"/>
                <a:cs typeface="Archivo Black" pitchFamily="34" charset="-120"/>
              </a:rPr>
              <a:t>The change I</a:t>
            </a:r>
            <a:br/>
            <a:pPr algn="l" indent="0" marL="0">
              <a:lnSpc>
                <a:spcPts val="5820"/>
              </a:lnSpc>
              <a:buNone/>
            </a:pPr>
            <a:r>
              <a:rPr lang="en-GB" sz="6000" spc="-60" kern="0" dirty="0" cap="all">
                <a:solidFill>
                  <a:srgbClr val="FFFFFF"/>
                </a:solidFill>
                <a:latin typeface="Archivo Black" pitchFamily="34" charset="0"/>
                <a:ea typeface="Archivo Black" pitchFamily="34" charset="-122"/>
                <a:cs typeface="Archivo Black" pitchFamily="34" charset="-120"/>
              </a:rPr>
              <a:t>want to see</a:t>
            </a:r>
            <a:endParaRPr lang="en-GB" sz="6000" dirty="0"/>
          </a:p>
        </p:txBody>
      </p:sp>
      <p:sp>
        <p:nvSpPr>
          <p:cNvPr id="4" name="Text 2"/>
          <p:cNvSpPr/>
          <p:nvPr/>
        </p:nvSpPr>
        <p:spPr>
          <a:xfrm>
            <a:off x="639945" y="2062045"/>
            <a:ext cx="11026102" cy="801798"/>
          </a:xfrm>
          <a:prstGeom prst="rect">
            <a:avLst/>
          </a:prstGeom>
          <a:noFill/>
          <a:ln/>
        </p:spPr>
        <p:txBody>
          <a:bodyPr wrap="square" lIns="0" tIns="0" rIns="0" bIns="0" rtlCol="0" anchor="t"/>
          <a:lstStyle/>
          <a:p>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I want the people who create the UK’s cultural life after dark to have greater</a:t>
            </a:r>
            <a:br/>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influence over the decisions and investment shaping their places.</a:t>
            </a:r>
            <a:endParaRPr lang="en-GB" sz="2300" dirty="0"/>
          </a:p>
        </p:txBody>
      </p:sp>
      <p:sp>
        <p:nvSpPr>
          <p:cNvPr id="5" name="Text 3"/>
          <p:cNvSpPr/>
          <p:nvPr/>
        </p:nvSpPr>
        <p:spPr>
          <a:xfrm>
            <a:off x="639945" y="3079838"/>
            <a:ext cx="5379208" cy="906114"/>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That is why I’ve founded Nightlife Culture: a creative policy studio for nightlife, music, cities and culture.</a:t>
            </a:r>
            <a:endParaRPr lang="en-GB" sz="1800" dirty="0"/>
          </a:p>
        </p:txBody>
      </p:sp>
      <p:sp>
        <p:nvSpPr>
          <p:cNvPr id="6" name="Text 4"/>
          <p:cNvSpPr/>
          <p:nvPr/>
        </p:nvSpPr>
        <p:spPr>
          <a:xfrm>
            <a:off x="639945" y="3979730"/>
            <a:ext cx="5379208" cy="1742508"/>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We bring cultural knowledge and evidence into the room with people who can act on it. Through research, advocacy, collaborative policy design and creative production, we build shared understanding and develop practical responses with the people affected.</a:t>
            </a:r>
            <a:endParaRPr lang="en-GB" sz="1800" dirty="0"/>
          </a:p>
        </p:txBody>
      </p:sp>
      <p:sp>
        <p:nvSpPr>
          <p:cNvPr id="7" name="Text 5"/>
          <p:cNvSpPr/>
          <p:nvPr/>
        </p:nvSpPr>
        <p:spPr>
          <a:xfrm>
            <a:off x="6286674" y="3079838"/>
            <a:ext cx="5379374" cy="906114"/>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My practice connects human-centred design with restorative economics: returning power to the people creating value.</a:t>
            </a:r>
            <a:endParaRPr lang="en-GB" sz="1800" dirty="0"/>
          </a:p>
        </p:txBody>
      </p:sp>
      <p:sp>
        <p:nvSpPr>
          <p:cNvPr id="8" name="Text 6"/>
          <p:cNvSpPr/>
          <p:nvPr/>
        </p:nvSpPr>
        <p:spPr>
          <a:xfrm>
            <a:off x="6286674" y="3979730"/>
            <a:ext cx="5379374" cy="906114"/>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Vibe Map is our first project. The larger ambition is to change how nightlife is understood, valued and invested in.</a:t>
            </a:r>
            <a:endParaRPr lang="en-GB" sz="1800" dirty="0"/>
          </a:p>
        </p:txBody>
      </p:sp>
      <p:sp>
        <p:nvSpPr>
          <p:cNvPr id="9" name="Text 7"/>
          <p:cNvSpPr/>
          <p:nvPr/>
        </p:nvSpPr>
        <p:spPr>
          <a:xfrm>
            <a:off x="639945" y="6035160"/>
            <a:ext cx="11026102" cy="342746"/>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53E6E5"/>
                </a:solidFill>
                <a:latin typeface="Archivo" pitchFamily="34" charset="0"/>
                <a:ea typeface="Archivo" pitchFamily="34" charset="-122"/>
                <a:cs typeface="Archivo" pitchFamily="34" charset="-120"/>
              </a:rPr>
              <a:t>Carly Heath · Creative producer and cultural policy specialist</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39945" y="2303306"/>
            <a:ext cx="2182262" cy="51096"/>
          </a:xfrm>
          <a:prstGeom prst="rect">
            <a:avLst/>
          </a:prstGeom>
          <a:solidFill>
            <a:srgbClr val="ED77C2"/>
          </a:solidFill>
          <a:ln/>
        </p:spPr>
      </p:sp>
      <p:sp>
        <p:nvSpPr>
          <p:cNvPr id="3" name="Text 1"/>
          <p:cNvSpPr/>
          <p:nvPr/>
        </p:nvSpPr>
        <p:spPr>
          <a:xfrm>
            <a:off x="639945" y="457056"/>
            <a:ext cx="11026102" cy="1199912"/>
          </a:xfrm>
          <a:prstGeom prst="rect">
            <a:avLst/>
          </a:prstGeom>
          <a:noFill/>
          <a:ln/>
        </p:spPr>
        <p:txBody>
          <a:bodyPr wrap="square" lIns="0" tIns="0" rIns="0" bIns="0" rtlCol="0" anchor="t"/>
          <a:lstStyle/>
          <a:p>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What if data could</a:t>
            </a:r>
            <a:br/>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feel like a club flyer?</a:t>
            </a:r>
            <a:endParaRPr lang="en-GB" sz="4330" dirty="0"/>
          </a:p>
        </p:txBody>
      </p:sp>
      <p:sp>
        <p:nvSpPr>
          <p:cNvPr id="4" name="Text 2"/>
          <p:cNvSpPr/>
          <p:nvPr/>
        </p:nvSpPr>
        <p:spPr>
          <a:xfrm>
            <a:off x="639945" y="1650628"/>
            <a:ext cx="8843675" cy="657123"/>
          </a:xfrm>
          <a:prstGeom prst="rect">
            <a:avLst/>
          </a:prstGeom>
          <a:noFill/>
          <a:ln/>
        </p:spPr>
        <p:txBody>
          <a:bodyPr wrap="square" lIns="0" tIns="0" rIns="0" bIns="0" rtlCol="0" anchor="t"/>
          <a:lstStyle/>
          <a:p>
            <a:pPr algn="l" indent="0" marL="0">
              <a:lnSpc>
                <a:spcPts val="4140"/>
              </a:lnSpc>
              <a:buNone/>
            </a:pPr>
            <a:r>
              <a:rPr lang="en-GB" sz="3600" dirty="0">
                <a:solidFill>
                  <a:srgbClr val="53E6E5"/>
                </a:solidFill>
                <a:latin typeface="Inter SemiBold" pitchFamily="34" charset="0"/>
                <a:ea typeface="Inter SemiBold" pitchFamily="34" charset="-122"/>
                <a:cs typeface="Inter SemiBold" pitchFamily="34" charset="-120"/>
              </a:rPr>
              <a:t>Vibe Map: data + design + storytelling.</a:t>
            </a:r>
            <a:endParaRPr lang="en-GB" sz="3600" dirty="0"/>
          </a:p>
        </p:txBody>
      </p:sp>
      <p:sp>
        <p:nvSpPr>
          <p:cNvPr id="5" name="Text 3"/>
          <p:cNvSpPr/>
          <p:nvPr/>
        </p:nvSpPr>
        <p:spPr>
          <a:xfrm>
            <a:off x="639945" y="2481399"/>
            <a:ext cx="5379208" cy="1184912"/>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A club flyer is packed with information. It tells you who’s playing, where to go, who’s behind it and whether this might be your kind of night. It’s an invitation.</a:t>
            </a:r>
            <a:endParaRPr lang="en-GB" sz="1800" dirty="0"/>
          </a:p>
        </p:txBody>
      </p:sp>
      <p:sp>
        <p:nvSpPr>
          <p:cNvPr id="6" name="Text 4"/>
          <p:cNvSpPr/>
          <p:nvPr/>
        </p:nvSpPr>
        <p:spPr>
          <a:xfrm>
            <a:off x="639945" y="3660088"/>
            <a:ext cx="5379208" cy="627317"/>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SemiBold" pitchFamily="34" charset="0"/>
                <a:ea typeface="Inter SemiBold" pitchFamily="34" charset="-122"/>
                <a:cs typeface="Inter SemiBold" pitchFamily="34" charset="-120"/>
              </a:rPr>
              <a:t>What if evidence could tell the story of a place with that same sense of recognition?</a:t>
            </a:r>
            <a:endParaRPr lang="en-GB" sz="1800" dirty="0"/>
          </a:p>
        </p:txBody>
      </p:sp>
      <p:sp>
        <p:nvSpPr>
          <p:cNvPr id="7" name="Text 5"/>
          <p:cNvSpPr/>
          <p:nvPr/>
        </p:nvSpPr>
        <p:spPr>
          <a:xfrm>
            <a:off x="6286674" y="2481399"/>
            <a:ext cx="5379374" cy="1184912"/>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Vibe Map is our first practical intervention: a shared evidence foundation and an interactive account of the people, activity, relationships and support systems that sustain nightlife.</a:t>
            </a:r>
            <a:endParaRPr lang="en-GB" sz="1800" dirty="0"/>
          </a:p>
        </p:txBody>
      </p:sp>
      <p:sp>
        <p:nvSpPr>
          <p:cNvPr id="8" name="Text 6"/>
          <p:cNvSpPr/>
          <p:nvPr/>
        </p:nvSpPr>
        <p:spPr>
          <a:xfrm>
            <a:off x="6286674" y="3660088"/>
            <a:ext cx="5379374"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We’re prototyping a free public-interest resource. The first view should tell you something meaningful about a place. Go deeper to explore the evidence and take it into a funding case or policy conversation.</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8686715" y="1280055"/>
            <a:ext cx="3504980" cy="4663495"/>
          </a:xfrm>
          <a:prstGeom prst="rect">
            <a:avLst/>
          </a:prstGeom>
          <a:solidFill>
            <a:srgbClr val="B98CFF"/>
          </a:solidFill>
          <a:ln/>
        </p:spPr>
      </p:sp>
      <p:sp>
        <p:nvSpPr>
          <p:cNvPr id="3" name="Text 1"/>
          <p:cNvSpPr/>
          <p:nvPr/>
        </p:nvSpPr>
        <p:spPr>
          <a:xfrm>
            <a:off x="639945" y="457056"/>
            <a:ext cx="7734272" cy="997862"/>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The backing to</a:t>
            </a:r>
            <a:br/>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build and test</a:t>
            </a:r>
            <a:endParaRPr lang="en-GB" sz="3600" dirty="0"/>
          </a:p>
        </p:txBody>
      </p:sp>
      <p:sp>
        <p:nvSpPr>
          <p:cNvPr id="4" name="Text 2"/>
          <p:cNvSpPr/>
          <p:nvPr/>
        </p:nvSpPr>
        <p:spPr>
          <a:xfrm>
            <a:off x="639945" y="1471047"/>
            <a:ext cx="7734272" cy="981367"/>
          </a:xfrm>
          <a:prstGeom prst="rect">
            <a:avLst/>
          </a:prstGeom>
          <a:noFill/>
          <a:ln/>
        </p:spPr>
        <p:txBody>
          <a:bodyPr wrap="square" lIns="0" tIns="0" rIns="0" bIns="0" rtlCol="0" anchor="t"/>
          <a:lstStyle/>
          <a:p>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The UK Dynamism Fund has backed Vibe Map to explore a</a:t>
            </a:r>
            <a:br/>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different way of understanding nightlife through existing</a:t>
            </a:r>
            <a:br/>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national evidence.</a:t>
            </a:r>
            <a:endParaRPr lang="en-GB" sz="1950" dirty="0"/>
          </a:p>
        </p:txBody>
      </p:sp>
      <p:sp>
        <p:nvSpPr>
          <p:cNvPr id="5" name="Text 3"/>
          <p:cNvSpPr/>
          <p:nvPr/>
        </p:nvSpPr>
        <p:spPr>
          <a:xfrm>
            <a:off x="639945" y="2503888"/>
            <a:ext cx="3790921" cy="174250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We will bring that evidence together, investigate cultural, social and economic approaches to value, and develop the prototype with cultural practitioners and decision users.</a:t>
            </a:r>
            <a:endParaRPr lang="en-GB" sz="1800" dirty="0"/>
          </a:p>
        </p:txBody>
      </p:sp>
      <p:sp>
        <p:nvSpPr>
          <p:cNvPr id="6" name="Text 4"/>
          <p:cNvSpPr/>
          <p:nvPr/>
        </p:nvSpPr>
        <p:spPr>
          <a:xfrm>
            <a:off x="4583130" y="2503888"/>
            <a:ext cx="3791087" cy="174250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The public-facing artefact is one expression of the prototype. The research, methods we develop or reject, experiments and learning are equally important parts of the work.</a:t>
            </a:r>
            <a:endParaRPr lang="en-GB" sz="1800" dirty="0"/>
          </a:p>
        </p:txBody>
      </p:sp>
      <p:sp>
        <p:nvSpPr>
          <p:cNvPr id="7" name="Text 5"/>
          <p:cNvSpPr/>
          <p:nvPr/>
        </p:nvSpPr>
        <p:spPr>
          <a:xfrm>
            <a:off x="8940543" y="1483283"/>
            <a:ext cx="2725504" cy="2021305"/>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I think of this like Lego blocks. Test something small, see what happens, refine it and build on what works. If a piece doesn’t fit, go back and work out why.</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1471047"/>
            <a:ext cx="3382613" cy="42332"/>
          </a:xfrm>
          <a:prstGeom prst="rect">
            <a:avLst/>
          </a:prstGeom>
          <a:solidFill>
            <a:srgbClr val="53E6E5"/>
          </a:solidFill>
          <a:ln/>
        </p:spPr>
      </p:sp>
      <p:sp>
        <p:nvSpPr>
          <p:cNvPr id="3" name="Shape 1"/>
          <p:cNvSpPr/>
          <p:nvPr/>
        </p:nvSpPr>
        <p:spPr>
          <a:xfrm>
            <a:off x="4404376" y="1471047"/>
            <a:ext cx="3382779" cy="42332"/>
          </a:xfrm>
          <a:prstGeom prst="rect">
            <a:avLst/>
          </a:prstGeom>
          <a:solidFill>
            <a:srgbClr val="FFDE6B"/>
          </a:solidFill>
          <a:ln/>
        </p:spPr>
      </p:sp>
      <p:sp>
        <p:nvSpPr>
          <p:cNvPr id="4" name="Shape 2"/>
          <p:cNvSpPr/>
          <p:nvPr/>
        </p:nvSpPr>
        <p:spPr>
          <a:xfrm>
            <a:off x="8168972" y="1471047"/>
            <a:ext cx="3382613" cy="42332"/>
          </a:xfrm>
          <a:prstGeom prst="rect">
            <a:avLst/>
          </a:prstGeom>
          <a:solidFill>
            <a:srgbClr val="ED77C2"/>
          </a:solidFill>
          <a:ln/>
        </p:spPr>
      </p:sp>
      <p:sp>
        <p:nvSpPr>
          <p:cNvPr id="5" name="Text 3"/>
          <p:cNvSpPr/>
          <p:nvPr/>
        </p:nvSpPr>
        <p:spPr>
          <a:xfrm>
            <a:off x="639945" y="457056"/>
            <a:ext cx="11026102" cy="997862"/>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FFFFFF"/>
                </a:solidFill>
                <a:latin typeface="Archivo Black" pitchFamily="34" charset="0"/>
                <a:ea typeface="Archivo Black" pitchFamily="34" charset="-122"/>
                <a:cs typeface="Archivo Black" pitchFamily="34" charset="-120"/>
              </a:rPr>
              <a:t>What happens when we ask</a:t>
            </a:r>
            <a:br/>
            <a:pPr algn="l" indent="0" marL="0">
              <a:lnSpc>
                <a:spcPts val="3490"/>
              </a:lnSpc>
              <a:buNone/>
            </a:pPr>
            <a:r>
              <a:rPr lang="en-GB" sz="3600" spc="-36" kern="0" dirty="0" cap="all">
                <a:solidFill>
                  <a:srgbClr val="FFFFFF"/>
                </a:solidFill>
                <a:latin typeface="Archivo Black" pitchFamily="34" charset="0"/>
                <a:ea typeface="Archivo Black" pitchFamily="34" charset="-122"/>
                <a:cs typeface="Archivo Black" pitchFamily="34" charset="-120"/>
              </a:rPr>
              <a:t>different questions of the data?</a:t>
            </a:r>
            <a:endParaRPr lang="en-GB" sz="3600" dirty="0"/>
          </a:p>
        </p:txBody>
      </p:sp>
      <p:sp>
        <p:nvSpPr>
          <p:cNvPr id="6" name="Text 4"/>
          <p:cNvSpPr/>
          <p:nvPr/>
        </p:nvSpPr>
        <p:spPr>
          <a:xfrm>
            <a:off x="639945" y="1614910"/>
            <a:ext cx="3496910" cy="381396"/>
          </a:xfrm>
          <a:prstGeom prst="rect">
            <a:avLst/>
          </a:prstGeom>
          <a:noFill/>
          <a:ln/>
        </p:spPr>
        <p:txBody>
          <a:bodyPr wrap="square" lIns="0" tIns="0" rIns="0" bIns="0" rtlCol="0" anchor="t"/>
          <a:lstStyle/>
          <a:p>
            <a:pPr algn="l" indent="0" marL="0">
              <a:lnSpc>
                <a:spcPts val="2400"/>
              </a:lnSpc>
              <a:buNone/>
            </a:pPr>
            <a:r>
              <a:rPr lang="en-GB" sz="2090" b="1" dirty="0">
                <a:solidFill>
                  <a:srgbClr val="53E6E5"/>
                </a:solidFill>
                <a:latin typeface="Archivo" pitchFamily="34" charset="0"/>
                <a:ea typeface="Archivo" pitchFamily="34" charset="-122"/>
                <a:cs typeface="Archivo" pitchFamily="34" charset="-120"/>
              </a:rPr>
              <a:t>Analysis</a:t>
            </a:r>
            <a:endParaRPr lang="en-GB" sz="2090" dirty="0"/>
          </a:p>
        </p:txBody>
      </p:sp>
      <p:sp>
        <p:nvSpPr>
          <p:cNvPr id="7" name="Text 5"/>
          <p:cNvSpPr/>
          <p:nvPr/>
        </p:nvSpPr>
        <p:spPr>
          <a:xfrm>
            <a:off x="639945" y="1983499"/>
            <a:ext cx="3496910" cy="2300103"/>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Can existing national data tell us a different story about how nightlife functions? Can events and ticketing information, viewed alongside public data about place, reveal patterns and relationships that either source alone misses?</a:t>
            </a:r>
            <a:endParaRPr lang="en-GB" sz="1800" dirty="0"/>
          </a:p>
        </p:txBody>
      </p:sp>
      <p:sp>
        <p:nvSpPr>
          <p:cNvPr id="8" name="Text 6"/>
          <p:cNvSpPr/>
          <p:nvPr/>
        </p:nvSpPr>
        <p:spPr>
          <a:xfrm>
            <a:off x="4404376" y="1614910"/>
            <a:ext cx="3497076" cy="381396"/>
          </a:xfrm>
          <a:prstGeom prst="rect">
            <a:avLst/>
          </a:prstGeom>
          <a:noFill/>
          <a:ln/>
        </p:spPr>
        <p:txBody>
          <a:bodyPr wrap="square" lIns="0" tIns="0" rIns="0" bIns="0" rtlCol="0" anchor="t"/>
          <a:lstStyle/>
          <a:p>
            <a:pPr algn="l" indent="0" marL="0">
              <a:lnSpc>
                <a:spcPts val="2400"/>
              </a:lnSpc>
              <a:buNone/>
            </a:pPr>
            <a:r>
              <a:rPr lang="en-GB" sz="2090" b="1" dirty="0">
                <a:solidFill>
                  <a:srgbClr val="53E6E5"/>
                </a:solidFill>
                <a:latin typeface="Archivo" pitchFamily="34" charset="0"/>
                <a:ea typeface="Archivo" pitchFamily="34" charset="-122"/>
                <a:cs typeface="Archivo" pitchFamily="34" charset="-120"/>
              </a:rPr>
              <a:t>Value</a:t>
            </a:r>
            <a:endParaRPr lang="en-GB" sz="2090" dirty="0"/>
          </a:p>
        </p:txBody>
      </p:sp>
      <p:sp>
        <p:nvSpPr>
          <p:cNvPr id="9" name="Text 7"/>
          <p:cNvSpPr/>
          <p:nvPr/>
        </p:nvSpPr>
        <p:spPr>
          <a:xfrm>
            <a:off x="4404376" y="1983499"/>
            <a:ext cx="3497076" cy="2300103"/>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Can methods used elsewhere to understand cultural, social and economic value be adapted to the evidence we already have? How far can that take us before new quantitative research is needed?</a:t>
            </a:r>
            <a:endParaRPr lang="en-GB" sz="1800" dirty="0"/>
          </a:p>
        </p:txBody>
      </p:sp>
      <p:sp>
        <p:nvSpPr>
          <p:cNvPr id="10" name="Text 8"/>
          <p:cNvSpPr/>
          <p:nvPr/>
        </p:nvSpPr>
        <p:spPr>
          <a:xfrm>
            <a:off x="8168972" y="1614910"/>
            <a:ext cx="3496910" cy="381396"/>
          </a:xfrm>
          <a:prstGeom prst="rect">
            <a:avLst/>
          </a:prstGeom>
          <a:noFill/>
          <a:ln/>
        </p:spPr>
        <p:txBody>
          <a:bodyPr wrap="square" lIns="0" tIns="0" rIns="0" bIns="0" rtlCol="0" anchor="t"/>
          <a:lstStyle/>
          <a:p>
            <a:pPr algn="l" indent="0" marL="0">
              <a:lnSpc>
                <a:spcPts val="2400"/>
              </a:lnSpc>
              <a:buNone/>
            </a:pPr>
            <a:r>
              <a:rPr lang="en-GB" sz="2090" b="1" dirty="0">
                <a:solidFill>
                  <a:srgbClr val="53E6E5"/>
                </a:solidFill>
                <a:latin typeface="Archivo" pitchFamily="34" charset="0"/>
                <a:ea typeface="Archivo" pitchFamily="34" charset="-122"/>
                <a:cs typeface="Archivo" pitchFamily="34" charset="-120"/>
              </a:rPr>
              <a:t>Communication</a:t>
            </a:r>
            <a:endParaRPr lang="en-GB" sz="2090" dirty="0"/>
          </a:p>
        </p:txBody>
      </p:sp>
      <p:sp>
        <p:nvSpPr>
          <p:cNvPr id="11" name="Text 9"/>
          <p:cNvSpPr/>
          <p:nvPr/>
        </p:nvSpPr>
        <p:spPr>
          <a:xfrm>
            <a:off x="8168972" y="1983499"/>
            <a:ext cx="3496910"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Can we express the evidence in a way people understand and can use in decisions? Do nightlife communities recognise their scene in it?</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639945" y="1546286"/>
            <a:ext cx="3382613" cy="2830640"/>
          </a:xfrm>
          <a:prstGeom prst="rect">
            <a:avLst/>
          </a:prstGeom>
          <a:solidFill>
            <a:srgbClr val="53E6E5"/>
          </a:solidFill>
          <a:ln/>
        </p:spPr>
      </p:sp>
      <p:sp>
        <p:nvSpPr>
          <p:cNvPr id="3" name="Shape 1"/>
          <p:cNvSpPr/>
          <p:nvPr/>
        </p:nvSpPr>
        <p:spPr>
          <a:xfrm>
            <a:off x="4404376" y="1546286"/>
            <a:ext cx="3382779" cy="2830640"/>
          </a:xfrm>
          <a:prstGeom prst="rect">
            <a:avLst/>
          </a:prstGeom>
          <a:solidFill>
            <a:srgbClr val="FFDE6B"/>
          </a:solidFill>
          <a:ln/>
        </p:spPr>
      </p:sp>
      <p:sp>
        <p:nvSpPr>
          <p:cNvPr id="4" name="Shape 2"/>
          <p:cNvSpPr/>
          <p:nvPr/>
        </p:nvSpPr>
        <p:spPr>
          <a:xfrm>
            <a:off x="8168972" y="1546286"/>
            <a:ext cx="3382613" cy="2830640"/>
          </a:xfrm>
          <a:prstGeom prst="rect">
            <a:avLst/>
          </a:prstGeom>
          <a:solidFill>
            <a:srgbClr val="B98CFF"/>
          </a:solidFill>
          <a:ln/>
        </p:spPr>
      </p:sp>
      <p:sp>
        <p:nvSpPr>
          <p:cNvPr id="5" name="Text 3"/>
          <p:cNvSpPr/>
          <p:nvPr/>
        </p:nvSpPr>
        <p:spPr>
          <a:xfrm>
            <a:off x="639945" y="457056"/>
            <a:ext cx="11026102" cy="666625"/>
          </a:xfrm>
          <a:prstGeom prst="rect">
            <a:avLst/>
          </a:prstGeom>
          <a:noFill/>
          <a:ln/>
        </p:spPr>
        <p:txBody>
          <a:bodyPr wrap="square" lIns="0" tIns="0" rIns="0" bIns="0" rtlCol="0" anchor="t"/>
          <a:lstStyle/>
          <a:p>
            <a:pPr algn="l" indent="0" marL="0">
              <a:lnSpc>
                <a:spcPts val="4200"/>
              </a:lnSpc>
              <a:buNone/>
            </a:pPr>
            <a:r>
              <a:rPr lang="en-GB" sz="4330" spc="-43" kern="0" dirty="0" cap="all">
                <a:solidFill>
                  <a:srgbClr val="0000FF"/>
                </a:solidFill>
                <a:latin typeface="Archivo Black" pitchFamily="34" charset="0"/>
                <a:ea typeface="Archivo Black" pitchFamily="34" charset="-122"/>
                <a:cs typeface="Archivo Black" pitchFamily="34" charset="-120"/>
              </a:rPr>
              <a:t>Who needs to use it?</a:t>
            </a:r>
            <a:endParaRPr lang="en-GB" sz="4330" dirty="0"/>
          </a:p>
        </p:txBody>
      </p:sp>
      <p:sp>
        <p:nvSpPr>
          <p:cNvPr id="6" name="Text 4"/>
          <p:cNvSpPr/>
          <p:nvPr/>
        </p:nvSpPr>
        <p:spPr>
          <a:xfrm>
            <a:off x="639945" y="1117341"/>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We are developing Vibe Map around three groups of decision users.</a:t>
            </a:r>
            <a:endParaRPr lang="en-GB" sz="1950" dirty="0"/>
          </a:p>
        </p:txBody>
      </p:sp>
      <p:sp>
        <p:nvSpPr>
          <p:cNvPr id="7" name="Text 5"/>
          <p:cNvSpPr/>
          <p:nvPr/>
        </p:nvSpPr>
        <p:spPr>
          <a:xfrm>
            <a:off x="830275" y="1762081"/>
            <a:ext cx="3116251" cy="686486"/>
          </a:xfrm>
          <a:prstGeom prst="rect">
            <a:avLst/>
          </a:prstGeom>
          <a:noFill/>
          <a:ln/>
        </p:spPr>
        <p:txBody>
          <a:bodyPr wrap="square" lIns="0" tIns="0" rIns="0" bIns="0" rtlCol="0" anchor="t"/>
          <a:lstStyle/>
          <a:p>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Politicians and</a:t>
            </a:r>
            <a:br/>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policymakers</a:t>
            </a:r>
            <a:endParaRPr lang="en-GB" sz="2090" dirty="0"/>
          </a:p>
        </p:txBody>
      </p:sp>
      <p:sp>
        <p:nvSpPr>
          <p:cNvPr id="8" name="Text 6"/>
          <p:cNvSpPr/>
          <p:nvPr/>
        </p:nvSpPr>
        <p:spPr>
          <a:xfrm>
            <a:off x="830275" y="2435759"/>
            <a:ext cx="3116251" cy="174250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See the cultural life behind the businesses and premises they can count, and use that understanding in decisions about place, policy and support.</a:t>
            </a:r>
            <a:endParaRPr lang="en-GB" sz="1800" dirty="0"/>
          </a:p>
        </p:txBody>
      </p:sp>
      <p:sp>
        <p:nvSpPr>
          <p:cNvPr id="9" name="Text 7"/>
          <p:cNvSpPr/>
          <p:nvPr/>
        </p:nvSpPr>
        <p:spPr>
          <a:xfrm>
            <a:off x="4594705" y="1762081"/>
            <a:ext cx="3116416" cy="1296666"/>
          </a:xfrm>
          <a:prstGeom prst="rect">
            <a:avLst/>
          </a:prstGeom>
          <a:noFill/>
          <a:ln/>
        </p:spPr>
        <p:txBody>
          <a:bodyPr wrap="square" lIns="0" tIns="0" rIns="0" bIns="0" rtlCol="0" anchor="t"/>
          <a:lstStyle/>
          <a:p>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Night time</a:t>
            </a:r>
            <a:br/>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ambassadors,</a:t>
            </a:r>
            <a:br/>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trade bodies and</a:t>
            </a:r>
            <a:br/>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nightlife advocates</a:t>
            </a:r>
            <a:endParaRPr lang="en-GB" sz="2090" dirty="0"/>
          </a:p>
        </p:txBody>
      </p:sp>
      <p:sp>
        <p:nvSpPr>
          <p:cNvPr id="10" name="Text 8"/>
          <p:cNvSpPr/>
          <p:nvPr/>
        </p:nvSpPr>
        <p:spPr>
          <a:xfrm>
            <a:off x="4594705" y="3045939"/>
            <a:ext cx="3116416"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Build common evidence and shared asks, while keeping the differences between scenes visible.</a:t>
            </a:r>
            <a:endParaRPr lang="en-GB" sz="1800" dirty="0"/>
          </a:p>
        </p:txBody>
      </p:sp>
      <p:sp>
        <p:nvSpPr>
          <p:cNvPr id="11" name="Text 9"/>
          <p:cNvSpPr/>
          <p:nvPr/>
        </p:nvSpPr>
        <p:spPr>
          <a:xfrm>
            <a:off x="8359301" y="1762081"/>
            <a:ext cx="3116251" cy="381396"/>
          </a:xfrm>
          <a:prstGeom prst="rect">
            <a:avLst/>
          </a:prstGeom>
          <a:noFill/>
          <a:ln/>
        </p:spPr>
        <p:txBody>
          <a:bodyPr wrap="square" lIns="0" tIns="0" rIns="0" bIns="0" rtlCol="0" anchor="t"/>
          <a:lstStyle/>
          <a:p>
            <a:pPr algn="l" indent="0" marL="0">
              <a:lnSpc>
                <a:spcPts val="2400"/>
              </a:lnSpc>
              <a:buNone/>
            </a:pPr>
            <a:r>
              <a:rPr lang="en-GB" sz="2090" b="1" dirty="0">
                <a:solidFill>
                  <a:srgbClr val="0D0D0D"/>
                </a:solidFill>
                <a:latin typeface="Archivo" pitchFamily="34" charset="0"/>
                <a:ea typeface="Archivo" pitchFamily="34" charset="-122"/>
                <a:cs typeface="Archivo" pitchFamily="34" charset="-120"/>
              </a:rPr>
              <a:t>Investors and funders</a:t>
            </a:r>
            <a:endParaRPr lang="en-GB" sz="2090" dirty="0"/>
          </a:p>
        </p:txBody>
      </p:sp>
      <p:sp>
        <p:nvSpPr>
          <p:cNvPr id="12" name="Text 10"/>
          <p:cNvSpPr/>
          <p:nvPr/>
        </p:nvSpPr>
        <p:spPr>
          <a:xfrm>
            <a:off x="8359301" y="2130669"/>
            <a:ext cx="3116251"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Understand existing activity, cultural value and the support that could help it flourish.</a:t>
            </a:r>
            <a:endParaRPr lang="en-GB" sz="1800" dirty="0"/>
          </a:p>
        </p:txBody>
      </p:sp>
      <p:sp>
        <p:nvSpPr>
          <p:cNvPr id="13" name="Text 11"/>
          <p:cNvSpPr/>
          <p:nvPr/>
        </p:nvSpPr>
        <p:spPr>
          <a:xfrm>
            <a:off x="639945" y="4503923"/>
            <a:ext cx="11026102" cy="627317"/>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The people who make nightlife help shape the questions, bring their knowledge and challenge the account. Their experience is essential to deciding whether the picture makes sense.</a:t>
            </a:r>
            <a:endParaRPr lang="en-GB" sz="1800" dirty="0"/>
          </a:p>
        </p:txBody>
      </p:sp>
      <p:sp>
        <p:nvSpPr>
          <p:cNvPr id="14" name="Text 12"/>
          <p:cNvSpPr/>
          <p:nvPr/>
        </p:nvSpPr>
        <p:spPr>
          <a:xfrm>
            <a:off x="639945" y="5188515"/>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A picture can be technically tidy and still miss the point.</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8686715" y="1280055"/>
            <a:ext cx="3504980" cy="4663495"/>
          </a:xfrm>
          <a:prstGeom prst="rect">
            <a:avLst/>
          </a:prstGeom>
          <a:solidFill>
            <a:srgbClr val="53E6E5"/>
          </a:solidFill>
          <a:ln/>
        </p:spPr>
      </p:sp>
      <p:sp>
        <p:nvSpPr>
          <p:cNvPr id="3" name="Shape 1"/>
          <p:cNvSpPr/>
          <p:nvPr/>
        </p:nvSpPr>
        <p:spPr>
          <a:xfrm>
            <a:off x="639945" y="5587033"/>
            <a:ext cx="7619975" cy="42332"/>
          </a:xfrm>
          <a:prstGeom prst="rect">
            <a:avLst/>
          </a:prstGeom>
          <a:solidFill>
            <a:srgbClr val="0000FF"/>
          </a:solidFill>
          <a:ln/>
        </p:spPr>
      </p:sp>
      <p:sp>
        <p:nvSpPr>
          <p:cNvPr id="4" name="Text 2"/>
          <p:cNvSpPr/>
          <p:nvPr/>
        </p:nvSpPr>
        <p:spPr>
          <a:xfrm>
            <a:off x="639945" y="457056"/>
            <a:ext cx="7734272" cy="997862"/>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National evidence. A</a:t>
            </a:r>
            <a:br/>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closer look at place.</a:t>
            </a:r>
            <a:endParaRPr lang="en-GB" sz="3600" dirty="0"/>
          </a:p>
        </p:txBody>
      </p:sp>
      <p:sp>
        <p:nvSpPr>
          <p:cNvPr id="5" name="Text 3"/>
          <p:cNvSpPr/>
          <p:nvPr/>
        </p:nvSpPr>
        <p:spPr>
          <a:xfrm>
            <a:off x="639945" y="1471047"/>
            <a:ext cx="3790921" cy="2021305"/>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The national evidence foundation brings together public data about place, population, economy and infrastructure with available events and ticketing information about what happens, where, when and who is involved.</a:t>
            </a:r>
            <a:endParaRPr lang="en-GB" sz="1800" dirty="0"/>
          </a:p>
        </p:txBody>
      </p:sp>
      <p:sp>
        <p:nvSpPr>
          <p:cNvPr id="6" name="Text 4"/>
          <p:cNvSpPr/>
          <p:nvPr/>
        </p:nvSpPr>
        <p:spPr>
          <a:xfrm>
            <a:off x="4583130" y="1471047"/>
            <a:ext cx="3791087" cy="2578901"/>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Take a recurring club night. A premises record tells us about the space. Event listings may show a promoter returning, artists appearing together or activity moving between venues. Local knowledge helps us understand what those patterns mean, and what the records miss.</a:t>
            </a:r>
            <a:endParaRPr lang="en-GB" sz="1800" dirty="0"/>
          </a:p>
        </p:txBody>
      </p:sp>
      <p:sp>
        <p:nvSpPr>
          <p:cNvPr id="7" name="Text 5"/>
          <p:cNvSpPr/>
          <p:nvPr/>
        </p:nvSpPr>
        <p:spPr>
          <a:xfrm>
            <a:off x="639945" y="5705564"/>
            <a:ext cx="7734272" cy="679286"/>
          </a:xfrm>
          <a:prstGeom prst="rect">
            <a:avLst/>
          </a:prstGeom>
          <a:noFill/>
          <a:ln/>
        </p:spPr>
        <p:txBody>
          <a:bodyPr wrap="square" lIns="0" tIns="0" rIns="0" bIns="0" rtlCol="0" anchor="t"/>
          <a:lstStyle/>
          <a:p>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The evidence is national from the start. The close-up view</a:t>
            </a:r>
            <a:br/>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helps us interrogate it.</a:t>
            </a:r>
            <a:endParaRPr lang="en-GB" sz="1950" dirty="0"/>
          </a:p>
        </p:txBody>
      </p:sp>
      <p:sp>
        <p:nvSpPr>
          <p:cNvPr id="8" name="Text 6"/>
          <p:cNvSpPr/>
          <p:nvPr/>
        </p:nvSpPr>
        <p:spPr>
          <a:xfrm>
            <a:off x="8940543" y="1483283"/>
            <a:ext cx="2725504" cy="2300103"/>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Bristol and the West of England are our close-up testing context. We use that knowledge to challenge the analysis, then test whether the methods still hold when we look across the UK.</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639945" y="2291565"/>
            <a:ext cx="2400538" cy="10583"/>
          </a:xfrm>
          <a:prstGeom prst="rect">
            <a:avLst/>
          </a:prstGeom>
          <a:solidFill>
            <a:srgbClr val="0D0D0D">
              <a:alpha val="22000"/>
            </a:srgbClr>
          </a:solidFill>
          <a:ln/>
        </p:spPr>
      </p:sp>
      <p:sp>
        <p:nvSpPr>
          <p:cNvPr id="3" name="Shape 1"/>
          <p:cNvSpPr/>
          <p:nvPr/>
        </p:nvSpPr>
        <p:spPr>
          <a:xfrm>
            <a:off x="3422300" y="2291565"/>
            <a:ext cx="8129450" cy="10583"/>
          </a:xfrm>
          <a:prstGeom prst="rect">
            <a:avLst/>
          </a:prstGeom>
          <a:solidFill>
            <a:srgbClr val="0D0D0D">
              <a:alpha val="22000"/>
            </a:srgbClr>
          </a:solidFill>
          <a:ln/>
        </p:spPr>
      </p:sp>
      <p:sp>
        <p:nvSpPr>
          <p:cNvPr id="4" name="Shape 2"/>
          <p:cNvSpPr/>
          <p:nvPr/>
        </p:nvSpPr>
        <p:spPr>
          <a:xfrm>
            <a:off x="639945" y="2922911"/>
            <a:ext cx="2400538" cy="10583"/>
          </a:xfrm>
          <a:prstGeom prst="rect">
            <a:avLst/>
          </a:prstGeom>
          <a:solidFill>
            <a:srgbClr val="0D0D0D">
              <a:alpha val="22000"/>
            </a:srgbClr>
          </a:solidFill>
          <a:ln/>
        </p:spPr>
      </p:sp>
      <p:sp>
        <p:nvSpPr>
          <p:cNvPr id="5" name="Shape 3"/>
          <p:cNvSpPr/>
          <p:nvPr/>
        </p:nvSpPr>
        <p:spPr>
          <a:xfrm>
            <a:off x="3422300" y="2922911"/>
            <a:ext cx="8129450" cy="10583"/>
          </a:xfrm>
          <a:prstGeom prst="rect">
            <a:avLst/>
          </a:prstGeom>
          <a:solidFill>
            <a:srgbClr val="0D0D0D">
              <a:alpha val="22000"/>
            </a:srgbClr>
          </a:solidFill>
          <a:ln/>
        </p:spPr>
      </p:sp>
      <p:sp>
        <p:nvSpPr>
          <p:cNvPr id="6" name="Shape 4"/>
          <p:cNvSpPr/>
          <p:nvPr/>
        </p:nvSpPr>
        <p:spPr>
          <a:xfrm>
            <a:off x="639945" y="3554257"/>
            <a:ext cx="2400538" cy="10583"/>
          </a:xfrm>
          <a:prstGeom prst="rect">
            <a:avLst/>
          </a:prstGeom>
          <a:solidFill>
            <a:srgbClr val="0D0D0D">
              <a:alpha val="22000"/>
            </a:srgbClr>
          </a:solidFill>
          <a:ln/>
        </p:spPr>
      </p:sp>
      <p:sp>
        <p:nvSpPr>
          <p:cNvPr id="7" name="Shape 5"/>
          <p:cNvSpPr/>
          <p:nvPr/>
        </p:nvSpPr>
        <p:spPr>
          <a:xfrm>
            <a:off x="3422300" y="3554257"/>
            <a:ext cx="8129450" cy="10583"/>
          </a:xfrm>
          <a:prstGeom prst="rect">
            <a:avLst/>
          </a:prstGeom>
          <a:solidFill>
            <a:srgbClr val="0D0D0D">
              <a:alpha val="22000"/>
            </a:srgbClr>
          </a:solidFill>
          <a:ln/>
        </p:spPr>
      </p:sp>
      <p:sp>
        <p:nvSpPr>
          <p:cNvPr id="8" name="Shape 6"/>
          <p:cNvSpPr/>
          <p:nvPr/>
        </p:nvSpPr>
        <p:spPr>
          <a:xfrm>
            <a:off x="639945" y="4185604"/>
            <a:ext cx="2400538" cy="10583"/>
          </a:xfrm>
          <a:prstGeom prst="rect">
            <a:avLst/>
          </a:prstGeom>
          <a:solidFill>
            <a:srgbClr val="0D0D0D">
              <a:alpha val="22000"/>
            </a:srgbClr>
          </a:solidFill>
          <a:ln/>
        </p:spPr>
      </p:sp>
      <p:sp>
        <p:nvSpPr>
          <p:cNvPr id="9" name="Shape 7"/>
          <p:cNvSpPr/>
          <p:nvPr/>
        </p:nvSpPr>
        <p:spPr>
          <a:xfrm>
            <a:off x="3422300" y="4185604"/>
            <a:ext cx="8129450" cy="10583"/>
          </a:xfrm>
          <a:prstGeom prst="rect">
            <a:avLst/>
          </a:prstGeom>
          <a:solidFill>
            <a:srgbClr val="0D0D0D">
              <a:alpha val="22000"/>
            </a:srgbClr>
          </a:solidFill>
          <a:ln/>
        </p:spPr>
      </p:sp>
      <p:sp>
        <p:nvSpPr>
          <p:cNvPr id="10" name="Shape 8"/>
          <p:cNvSpPr/>
          <p:nvPr/>
        </p:nvSpPr>
        <p:spPr>
          <a:xfrm>
            <a:off x="639945" y="5587199"/>
            <a:ext cx="10911805" cy="42332"/>
          </a:xfrm>
          <a:prstGeom prst="rect">
            <a:avLst/>
          </a:prstGeom>
          <a:solidFill>
            <a:srgbClr val="0000FF"/>
          </a:solidFill>
          <a:ln/>
        </p:spPr>
      </p:sp>
      <p:sp>
        <p:nvSpPr>
          <p:cNvPr id="11" name="Text 9"/>
          <p:cNvSpPr/>
          <p:nvPr/>
        </p:nvSpPr>
        <p:spPr>
          <a:xfrm>
            <a:off x="639945" y="457056"/>
            <a:ext cx="11026102" cy="554365"/>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Five connected prototyping buckets</a:t>
            </a:r>
            <a:endParaRPr lang="en-GB" sz="3600" dirty="0"/>
          </a:p>
        </p:txBody>
      </p:sp>
      <p:sp>
        <p:nvSpPr>
          <p:cNvPr id="12" name="Text 10"/>
          <p:cNvSpPr/>
          <p:nvPr/>
        </p:nvSpPr>
        <p:spPr>
          <a:xfrm>
            <a:off x="639945" y="1702500"/>
            <a:ext cx="2514835" cy="625945"/>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A. Decision-making</a:t>
            </a:r>
            <a:endParaRPr lang="en-GB" sz="1800" dirty="0"/>
          </a:p>
        </p:txBody>
      </p:sp>
      <p:sp>
        <p:nvSpPr>
          <p:cNvPr id="13" name="Text 11"/>
          <p:cNvSpPr/>
          <p:nvPr/>
        </p:nvSpPr>
        <p:spPr>
          <a:xfrm>
            <a:off x="3422300" y="1702500"/>
            <a:ext cx="8243748" cy="62708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What do people need to decide, and does the emerging evidence help them?</a:t>
            </a:r>
            <a:endParaRPr lang="en-GB" sz="1800" dirty="0"/>
          </a:p>
        </p:txBody>
      </p:sp>
      <p:sp>
        <p:nvSpPr>
          <p:cNvPr id="14" name="Text 12"/>
          <p:cNvSpPr/>
          <p:nvPr/>
        </p:nvSpPr>
        <p:spPr>
          <a:xfrm>
            <a:off x="639945" y="2333847"/>
            <a:ext cx="2514835" cy="625945"/>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B. Cultural</a:t>
            </a:r>
            <a:br/>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truth</a:t>
            </a:r>
            <a:endParaRPr lang="en-GB" sz="1800" dirty="0"/>
          </a:p>
        </p:txBody>
      </p:sp>
      <p:sp>
        <p:nvSpPr>
          <p:cNvPr id="15" name="Text 13"/>
          <p:cNvSpPr/>
          <p:nvPr/>
        </p:nvSpPr>
        <p:spPr>
          <a:xfrm>
            <a:off x="3422300" y="2333847"/>
            <a:ext cx="8243748" cy="62708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Does the picture ring true to the people who know the place? What is missing or distorted?</a:t>
            </a:r>
            <a:endParaRPr lang="en-GB" sz="1800" dirty="0"/>
          </a:p>
        </p:txBody>
      </p:sp>
      <p:sp>
        <p:nvSpPr>
          <p:cNvPr id="16" name="Text 14"/>
          <p:cNvSpPr/>
          <p:nvPr/>
        </p:nvSpPr>
        <p:spPr>
          <a:xfrm>
            <a:off x="639945" y="2965193"/>
            <a:ext cx="2514835" cy="625945"/>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C. Methodology</a:t>
            </a:r>
            <a:endParaRPr lang="en-GB" sz="1800" dirty="0"/>
          </a:p>
        </p:txBody>
      </p:sp>
      <p:sp>
        <p:nvSpPr>
          <p:cNvPr id="17" name="Text 15"/>
          <p:cNvSpPr/>
          <p:nvPr/>
        </p:nvSpPr>
        <p:spPr>
          <a:xfrm>
            <a:off x="3422300" y="2965193"/>
            <a:ext cx="8243748" cy="62708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How can we credibly understand economic contribution, cultural value and social impact using the evidence available?</a:t>
            </a:r>
            <a:endParaRPr lang="en-GB" sz="1800" dirty="0"/>
          </a:p>
        </p:txBody>
      </p:sp>
      <p:sp>
        <p:nvSpPr>
          <p:cNvPr id="18" name="Text 16"/>
          <p:cNvSpPr/>
          <p:nvPr/>
        </p:nvSpPr>
        <p:spPr>
          <a:xfrm>
            <a:off x="639945" y="3596539"/>
            <a:ext cx="2514835" cy="625945"/>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D. Analysis</a:t>
            </a:r>
            <a:endParaRPr lang="en-GB" sz="1800" dirty="0"/>
          </a:p>
        </p:txBody>
      </p:sp>
      <p:sp>
        <p:nvSpPr>
          <p:cNvPr id="19" name="Text 17"/>
          <p:cNvSpPr/>
          <p:nvPr/>
        </p:nvSpPr>
        <p:spPr>
          <a:xfrm>
            <a:off x="3422300" y="3596539"/>
            <a:ext cx="8243748" cy="62708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What patterns and relationships can we find by combining and interrogating datasets differently?</a:t>
            </a:r>
            <a:endParaRPr lang="en-GB" sz="1800" dirty="0"/>
          </a:p>
        </p:txBody>
      </p:sp>
      <p:sp>
        <p:nvSpPr>
          <p:cNvPr id="20" name="Text 18"/>
          <p:cNvSpPr/>
          <p:nvPr/>
        </p:nvSpPr>
        <p:spPr>
          <a:xfrm>
            <a:off x="639945" y="4227885"/>
            <a:ext cx="2514835" cy="625945"/>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E. Technology</a:t>
            </a:r>
            <a:endParaRPr lang="en-GB" sz="1800" dirty="0"/>
          </a:p>
        </p:txBody>
      </p:sp>
      <p:sp>
        <p:nvSpPr>
          <p:cNvPr id="21" name="Text 19"/>
          <p:cNvSpPr/>
          <p:nvPr/>
        </p:nvSpPr>
        <p:spPr>
          <a:xfrm>
            <a:off x="3422300" y="4227885"/>
            <a:ext cx="8243748" cy="627088"/>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Can we turn those insights into something culturally resonant that people can explore, understand and use?</a:t>
            </a:r>
            <a:endParaRPr lang="en-GB" sz="1800" dirty="0"/>
          </a:p>
        </p:txBody>
      </p:sp>
      <p:sp>
        <p:nvSpPr>
          <p:cNvPr id="22" name="Text 20"/>
          <p:cNvSpPr/>
          <p:nvPr/>
        </p:nvSpPr>
        <p:spPr>
          <a:xfrm>
            <a:off x="639945" y="5705729"/>
            <a:ext cx="11026102" cy="679286"/>
          </a:xfrm>
          <a:prstGeom prst="rect">
            <a:avLst/>
          </a:prstGeom>
          <a:noFill/>
          <a:ln/>
        </p:spPr>
        <p:txBody>
          <a:bodyPr wrap="square" lIns="0" tIns="0" rIns="0" bIns="0" rtlCol="0" anchor="t"/>
          <a:lstStyle/>
          <a:p>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A challenge from the scene can change the analysis. A decision need can change what we</a:t>
            </a:r>
            <a:br/>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show. The five buckets keep the work connected as we learn.</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8168972" y="4285977"/>
            <a:ext cx="3382613" cy="1932733"/>
          </a:xfrm>
          <a:prstGeom prst="rect">
            <a:avLst/>
          </a:prstGeom>
          <a:solidFill>
            <a:srgbClr val="FFDE6B"/>
          </a:solidFill>
          <a:ln/>
        </p:spPr>
      </p:sp>
      <p:sp>
        <p:nvSpPr>
          <p:cNvPr id="3" name="Shape 1"/>
          <p:cNvSpPr/>
          <p:nvPr/>
        </p:nvSpPr>
        <p:spPr>
          <a:xfrm>
            <a:off x="639945" y="2201940"/>
            <a:ext cx="3382613" cy="42332"/>
          </a:xfrm>
          <a:prstGeom prst="rect">
            <a:avLst/>
          </a:prstGeom>
          <a:solidFill>
            <a:srgbClr val="0000FF"/>
          </a:solidFill>
          <a:ln/>
        </p:spPr>
      </p:sp>
      <p:sp>
        <p:nvSpPr>
          <p:cNvPr id="4" name="Shape 2"/>
          <p:cNvSpPr/>
          <p:nvPr/>
        </p:nvSpPr>
        <p:spPr>
          <a:xfrm>
            <a:off x="4404376" y="2201940"/>
            <a:ext cx="3382779" cy="42332"/>
          </a:xfrm>
          <a:prstGeom prst="rect">
            <a:avLst/>
          </a:prstGeom>
          <a:solidFill>
            <a:srgbClr val="0000FF"/>
          </a:solidFill>
          <a:ln/>
        </p:spPr>
      </p:sp>
      <p:sp>
        <p:nvSpPr>
          <p:cNvPr id="5" name="Shape 3"/>
          <p:cNvSpPr/>
          <p:nvPr/>
        </p:nvSpPr>
        <p:spPr>
          <a:xfrm>
            <a:off x="8168972" y="2201940"/>
            <a:ext cx="3382613" cy="42332"/>
          </a:xfrm>
          <a:prstGeom prst="rect">
            <a:avLst/>
          </a:prstGeom>
          <a:solidFill>
            <a:srgbClr val="0000FF"/>
          </a:solidFill>
          <a:ln/>
        </p:spPr>
      </p:sp>
      <p:sp>
        <p:nvSpPr>
          <p:cNvPr id="6" name="Shape 4"/>
          <p:cNvSpPr/>
          <p:nvPr/>
        </p:nvSpPr>
        <p:spPr>
          <a:xfrm>
            <a:off x="639945" y="4285977"/>
            <a:ext cx="3382613" cy="42332"/>
          </a:xfrm>
          <a:prstGeom prst="rect">
            <a:avLst/>
          </a:prstGeom>
          <a:solidFill>
            <a:srgbClr val="0000FF"/>
          </a:solidFill>
          <a:ln/>
        </p:spPr>
      </p:sp>
      <p:sp>
        <p:nvSpPr>
          <p:cNvPr id="7" name="Shape 5"/>
          <p:cNvSpPr/>
          <p:nvPr/>
        </p:nvSpPr>
        <p:spPr>
          <a:xfrm>
            <a:off x="4404376" y="4285977"/>
            <a:ext cx="3382779" cy="42332"/>
          </a:xfrm>
          <a:prstGeom prst="rect">
            <a:avLst/>
          </a:prstGeom>
          <a:solidFill>
            <a:srgbClr val="0000FF"/>
          </a:solidFill>
          <a:ln/>
        </p:spPr>
      </p:sp>
      <p:sp>
        <p:nvSpPr>
          <p:cNvPr id="8" name="Text 6"/>
          <p:cNvSpPr/>
          <p:nvPr/>
        </p:nvSpPr>
        <p:spPr>
          <a:xfrm>
            <a:off x="639945" y="457056"/>
            <a:ext cx="11026102" cy="997862"/>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Gather people. Make</a:t>
            </a:r>
            <a:br/>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something. Learn from it.</a:t>
            </a:r>
            <a:endParaRPr lang="en-GB" sz="3600" dirty="0"/>
          </a:p>
        </p:txBody>
      </p:sp>
      <p:sp>
        <p:nvSpPr>
          <p:cNvPr id="9" name="Text 7"/>
          <p:cNvSpPr/>
          <p:nvPr/>
        </p:nvSpPr>
        <p:spPr>
          <a:xfrm>
            <a:off x="639945" y="1471047"/>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We bring people together who see the problem differently, build something they can</a:t>
            </a:r>
            <a:br/>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question and use what we learn to make the next piece.</a:t>
            </a:r>
            <a:endParaRPr lang="en-GB" sz="1950" dirty="0"/>
          </a:p>
        </p:txBody>
      </p:sp>
      <p:sp>
        <p:nvSpPr>
          <p:cNvPr id="10" name="Text 8"/>
          <p:cNvSpPr/>
          <p:nvPr/>
        </p:nvSpPr>
        <p:spPr>
          <a:xfrm>
            <a:off x="639945" y="2345803"/>
            <a:ext cx="3496910"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Explore</a:t>
            </a:r>
            <a:endParaRPr lang="en-GB" sz="2090" dirty="0"/>
          </a:p>
        </p:txBody>
      </p:sp>
      <p:sp>
        <p:nvSpPr>
          <p:cNvPr id="11" name="Text 9"/>
          <p:cNvSpPr/>
          <p:nvPr/>
        </p:nvSpPr>
        <p:spPr>
          <a:xfrm>
            <a:off x="639945" y="2714392"/>
            <a:ext cx="3496910"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Understand users, evidence, existing methods and the questions worth testing.</a:t>
            </a:r>
            <a:endParaRPr lang="en-GB" sz="1800" dirty="0"/>
          </a:p>
        </p:txBody>
      </p:sp>
      <p:sp>
        <p:nvSpPr>
          <p:cNvPr id="12" name="Text 10"/>
          <p:cNvSpPr/>
          <p:nvPr/>
        </p:nvSpPr>
        <p:spPr>
          <a:xfrm>
            <a:off x="4404376" y="2345803"/>
            <a:ext cx="3497076" cy="68648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Make and</a:t>
            </a:r>
            <a:br/>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interrogate</a:t>
            </a:r>
            <a:endParaRPr lang="en-GB" sz="2090" dirty="0"/>
          </a:p>
        </p:txBody>
      </p:sp>
      <p:sp>
        <p:nvSpPr>
          <p:cNvPr id="13" name="Text 11"/>
          <p:cNvSpPr/>
          <p:nvPr/>
        </p:nvSpPr>
        <p:spPr>
          <a:xfrm>
            <a:off x="4404376" y="3019482"/>
            <a:ext cx="3497076"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Combine data and make rough artefacts that help us ask better questions.</a:t>
            </a:r>
            <a:endParaRPr lang="en-GB" sz="1800" dirty="0"/>
          </a:p>
        </p:txBody>
      </p:sp>
      <p:sp>
        <p:nvSpPr>
          <p:cNvPr id="14" name="Text 12"/>
          <p:cNvSpPr/>
          <p:nvPr/>
        </p:nvSpPr>
        <p:spPr>
          <a:xfrm>
            <a:off x="8168972" y="2345803"/>
            <a:ext cx="3496910"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Co-design and test</a:t>
            </a:r>
            <a:endParaRPr lang="en-GB" sz="2090" dirty="0"/>
          </a:p>
        </p:txBody>
      </p:sp>
      <p:sp>
        <p:nvSpPr>
          <p:cNvPr id="15" name="Text 13"/>
          <p:cNvSpPr/>
          <p:nvPr/>
        </p:nvSpPr>
        <p:spPr>
          <a:xfrm>
            <a:off x="8168972" y="2714392"/>
            <a:ext cx="3496910" cy="1463710"/>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Put the work in front of cultural practitioners and decision users. Find out what works, what doesn’t and what we have missed.</a:t>
            </a:r>
            <a:endParaRPr lang="en-GB" sz="1800" dirty="0"/>
          </a:p>
        </p:txBody>
      </p:sp>
      <p:sp>
        <p:nvSpPr>
          <p:cNvPr id="16" name="Text 14"/>
          <p:cNvSpPr/>
          <p:nvPr/>
        </p:nvSpPr>
        <p:spPr>
          <a:xfrm>
            <a:off x="639945" y="4429841"/>
            <a:ext cx="3496910"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Refine and integrate</a:t>
            </a:r>
            <a:endParaRPr lang="en-GB" sz="2090" dirty="0"/>
          </a:p>
        </p:txBody>
      </p:sp>
      <p:sp>
        <p:nvSpPr>
          <p:cNvPr id="17" name="Text 15"/>
          <p:cNvSpPr/>
          <p:nvPr/>
        </p:nvSpPr>
        <p:spPr>
          <a:xfrm>
            <a:off x="639945" y="4798430"/>
            <a:ext cx="3496910"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Feed that learning back across the five buckets and improve the work together.</a:t>
            </a:r>
            <a:endParaRPr lang="en-GB" sz="1800" dirty="0"/>
          </a:p>
        </p:txBody>
      </p:sp>
      <p:sp>
        <p:nvSpPr>
          <p:cNvPr id="18" name="Text 16"/>
          <p:cNvSpPr/>
          <p:nvPr/>
        </p:nvSpPr>
        <p:spPr>
          <a:xfrm>
            <a:off x="4404376" y="4429841"/>
            <a:ext cx="3497076" cy="68648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National prototype</a:t>
            </a:r>
            <a:br/>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and test</a:t>
            </a:r>
            <a:endParaRPr lang="en-GB" sz="2090" dirty="0"/>
          </a:p>
        </p:txBody>
      </p:sp>
      <p:sp>
        <p:nvSpPr>
          <p:cNvPr id="19" name="Text 17"/>
          <p:cNvSpPr/>
          <p:nvPr/>
        </p:nvSpPr>
        <p:spPr>
          <a:xfrm>
            <a:off x="4404376" y="5103520"/>
            <a:ext cx="3497076"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Bring the strongest learning into the national prototype and test whether it holds across different places.</a:t>
            </a:r>
            <a:endParaRPr lang="en-GB" sz="1800" dirty="0"/>
          </a:p>
        </p:txBody>
      </p:sp>
      <p:sp>
        <p:nvSpPr>
          <p:cNvPr id="20" name="Text 18"/>
          <p:cNvSpPr/>
          <p:nvPr/>
        </p:nvSpPr>
        <p:spPr>
          <a:xfrm>
            <a:off x="8359301" y="4501773"/>
            <a:ext cx="3116251" cy="1463710"/>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SemiBold" pitchFamily="34" charset="0"/>
                <a:ea typeface="Inter SemiBold" pitchFamily="34" charset="-122"/>
                <a:cs typeface="Inter SemiBold" pitchFamily="34" charset="-120"/>
              </a:rPr>
              <a:t>Co-design runs throughout. What we discover can send us backwards, sideways or across the buckets.</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2381521"/>
            <a:ext cx="2182262" cy="51096"/>
          </a:xfrm>
          <a:prstGeom prst="rect">
            <a:avLst/>
          </a:prstGeom>
          <a:solidFill>
            <a:srgbClr val="FFFFFF"/>
          </a:solidFill>
          <a:ln/>
        </p:spPr>
      </p:sp>
      <p:sp>
        <p:nvSpPr>
          <p:cNvPr id="3" name="Text 1"/>
          <p:cNvSpPr/>
          <p:nvPr/>
        </p:nvSpPr>
        <p:spPr>
          <a:xfrm>
            <a:off x="639945" y="457056"/>
            <a:ext cx="11026102" cy="1199912"/>
          </a:xfrm>
          <a:prstGeom prst="rect">
            <a:avLst/>
          </a:prstGeom>
          <a:noFill/>
          <a:ln/>
        </p:spPr>
        <p:txBody>
          <a:bodyPr wrap="square" lIns="0" tIns="0" rIns="0" bIns="0" rtlCol="0" anchor="t"/>
          <a:lstStyle/>
          <a:p>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What changes</a:t>
            </a:r>
            <a:br/>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when we can see it?</a:t>
            </a:r>
            <a:endParaRPr lang="en-GB" sz="4330" dirty="0"/>
          </a:p>
        </p:txBody>
      </p:sp>
      <p:sp>
        <p:nvSpPr>
          <p:cNvPr id="4" name="Text 2"/>
          <p:cNvSpPr/>
          <p:nvPr/>
        </p:nvSpPr>
        <p:spPr>
          <a:xfrm>
            <a:off x="639945" y="1650628"/>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The data is the thing that needs to be done first. The interesting work is what becomes</a:t>
            </a:r>
            <a:br/>
            <a:pPr algn="l" indent="0" marL="0">
              <a:lnSpc>
                <a:spcPts val="2380"/>
              </a:lnSpc>
              <a:buNone/>
            </a:pPr>
            <a:r>
              <a:rPr lang="en-GB" sz="1950" dirty="0">
                <a:solidFill>
                  <a:srgbClr val="FFFFFF"/>
                </a:solidFill>
                <a:latin typeface="Inter SemiBold" pitchFamily="34" charset="0"/>
                <a:ea typeface="Inter SemiBold" pitchFamily="34" charset="-122"/>
                <a:cs typeface="Inter SemiBold" pitchFamily="34" charset="-120"/>
              </a:rPr>
              <a:t>possible once we have it.</a:t>
            </a:r>
            <a:endParaRPr lang="en-GB" sz="1950" dirty="0"/>
          </a:p>
        </p:txBody>
      </p:sp>
      <p:sp>
        <p:nvSpPr>
          <p:cNvPr id="5" name="Text 3"/>
          <p:cNvSpPr/>
          <p:nvPr/>
        </p:nvSpPr>
        <p:spPr>
          <a:xfrm>
            <a:off x="639945" y="2559614"/>
            <a:ext cx="5379208" cy="1742508"/>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The future I’m working towards is one where a small venue can make its cultural significance understood, a funder can recognise activity that conventional measures overlook, and the people sustaining a scene can shape what happens to it.</a:t>
            </a:r>
            <a:endParaRPr lang="en-GB" sz="1800" dirty="0"/>
          </a:p>
        </p:txBody>
      </p:sp>
      <p:sp>
        <p:nvSpPr>
          <p:cNvPr id="6" name="Text 4"/>
          <p:cNvSpPr/>
          <p:nvPr/>
        </p:nvSpPr>
        <p:spPr>
          <a:xfrm>
            <a:off x="6286674" y="2559614"/>
            <a:ext cx="5379374"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A shared evidence foundation gives us something to bring into the room: a picture people can challenge, priorities they can develop together, and a stronger case to take to those who control resources.</a:t>
            </a:r>
            <a:endParaRPr lang="en-GB" sz="1800" dirty="0"/>
          </a:p>
        </p:txBody>
      </p:sp>
      <p:sp>
        <p:nvSpPr>
          <p:cNvPr id="7" name="Text 5"/>
          <p:cNvSpPr/>
          <p:nvPr/>
        </p:nvSpPr>
        <p:spPr>
          <a:xfrm>
            <a:off x="6286674" y="4017101"/>
            <a:ext cx="5379374" cy="1184912"/>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Nightlife Culture will use that foundation to bring cultural communities and decision-makers together around policy, support and investment. Vibe Map tests how the evidence can help.</a:t>
            </a:r>
            <a:endParaRPr lang="en-GB" sz="1800" dirty="0"/>
          </a:p>
        </p:txBody>
      </p:sp>
      <p:sp>
        <p:nvSpPr>
          <p:cNvPr id="8" name="Text 6"/>
          <p:cNvSpPr/>
          <p:nvPr/>
        </p:nvSpPr>
        <p:spPr>
          <a:xfrm>
            <a:off x="639945" y="5705432"/>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53E6E5"/>
                </a:solidFill>
                <a:latin typeface="Inter SemiBold" pitchFamily="34" charset="0"/>
                <a:ea typeface="Inter SemiBold" pitchFamily="34" charset="-122"/>
                <a:cs typeface="Inter SemiBold" pitchFamily="34" charset="-120"/>
              </a:rPr>
              <a:t>The ambition is to shift influence, investment and cultural power towards the people</a:t>
            </a:r>
            <a:br/>
            <a:pPr algn="l" indent="0" marL="0">
              <a:lnSpc>
                <a:spcPts val="2380"/>
              </a:lnSpc>
              <a:buNone/>
            </a:pPr>
            <a:r>
              <a:rPr lang="en-GB" sz="1950" dirty="0">
                <a:solidFill>
                  <a:srgbClr val="53E6E5"/>
                </a:solidFill>
                <a:latin typeface="Inter SemiBold" pitchFamily="34" charset="0"/>
                <a:ea typeface="Inter SemiBold" pitchFamily="34" charset="-122"/>
                <a:cs typeface="Inter SemiBold" pitchFamily="34" charset="-120"/>
              </a:rPr>
              <a:t>creating the value.</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0" y="5669218"/>
            <a:ext cx="12191695" cy="1188611"/>
          </a:xfrm>
          <a:prstGeom prst="rect">
            <a:avLst/>
          </a:prstGeom>
          <a:solidFill>
            <a:srgbClr val="0000FF"/>
          </a:solidFill>
          <a:ln/>
        </p:spPr>
      </p:sp>
      <p:sp>
        <p:nvSpPr>
          <p:cNvPr id="3" name="Shape 1"/>
          <p:cNvSpPr/>
          <p:nvPr/>
        </p:nvSpPr>
        <p:spPr>
          <a:xfrm>
            <a:off x="639945" y="2548535"/>
            <a:ext cx="2584749" cy="42332"/>
          </a:xfrm>
          <a:prstGeom prst="rect">
            <a:avLst/>
          </a:prstGeom>
          <a:solidFill>
            <a:srgbClr val="53E6E5"/>
          </a:solidFill>
          <a:ln/>
        </p:spPr>
      </p:sp>
      <p:sp>
        <p:nvSpPr>
          <p:cNvPr id="4" name="Shape 2"/>
          <p:cNvSpPr/>
          <p:nvPr/>
        </p:nvSpPr>
        <p:spPr>
          <a:xfrm>
            <a:off x="3415520" y="2548535"/>
            <a:ext cx="2584915" cy="42332"/>
          </a:xfrm>
          <a:prstGeom prst="rect">
            <a:avLst/>
          </a:prstGeom>
          <a:solidFill>
            <a:srgbClr val="ED77C2"/>
          </a:solidFill>
          <a:ln/>
        </p:spPr>
      </p:sp>
      <p:sp>
        <p:nvSpPr>
          <p:cNvPr id="5" name="Shape 3"/>
          <p:cNvSpPr/>
          <p:nvPr/>
        </p:nvSpPr>
        <p:spPr>
          <a:xfrm>
            <a:off x="6191261" y="2548535"/>
            <a:ext cx="2584749" cy="42332"/>
          </a:xfrm>
          <a:prstGeom prst="rect">
            <a:avLst/>
          </a:prstGeom>
          <a:solidFill>
            <a:srgbClr val="B98CFF"/>
          </a:solidFill>
          <a:ln/>
        </p:spPr>
      </p:sp>
      <p:sp>
        <p:nvSpPr>
          <p:cNvPr id="6" name="Shape 4"/>
          <p:cNvSpPr/>
          <p:nvPr/>
        </p:nvSpPr>
        <p:spPr>
          <a:xfrm>
            <a:off x="8966836" y="2548535"/>
            <a:ext cx="2584915" cy="42332"/>
          </a:xfrm>
          <a:prstGeom prst="rect">
            <a:avLst/>
          </a:prstGeom>
          <a:solidFill>
            <a:srgbClr val="FFDE6B"/>
          </a:solidFill>
          <a:ln/>
        </p:spPr>
      </p:sp>
      <p:sp>
        <p:nvSpPr>
          <p:cNvPr id="7" name="Text 5"/>
          <p:cNvSpPr/>
          <p:nvPr/>
        </p:nvSpPr>
        <p:spPr>
          <a:xfrm>
            <a:off x="639945" y="457056"/>
            <a:ext cx="11026102" cy="554365"/>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We make the night happen</a:t>
            </a:r>
            <a:endParaRPr lang="en-GB" sz="3600" dirty="0"/>
          </a:p>
        </p:txBody>
      </p:sp>
      <p:sp>
        <p:nvSpPr>
          <p:cNvPr id="8" name="Text 6"/>
          <p:cNvSpPr/>
          <p:nvPr/>
        </p:nvSpPr>
        <p:spPr>
          <a:xfrm>
            <a:off x="639945" y="1027550"/>
            <a:ext cx="5379208" cy="1463710"/>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We know what becomes possible when the right people come together. Now we’re bringing that same spirit of collective creativity to how nightlife is understood, governed and invested in.</a:t>
            </a:r>
            <a:endParaRPr lang="en-GB" sz="1800" dirty="0"/>
          </a:p>
        </p:txBody>
      </p:sp>
      <p:sp>
        <p:nvSpPr>
          <p:cNvPr id="9" name="Text 7"/>
          <p:cNvSpPr/>
          <p:nvPr/>
        </p:nvSpPr>
        <p:spPr>
          <a:xfrm>
            <a:off x="6286674" y="1027550"/>
            <a:ext cx="5379374"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We’ve got questions to answer, evidence to explore and things to build. Bring the knowledge we haven’t got. Ask the difficult question. Help us make the work useful.</a:t>
            </a:r>
            <a:endParaRPr lang="en-GB" sz="1800" dirty="0"/>
          </a:p>
        </p:txBody>
      </p:sp>
      <p:sp>
        <p:nvSpPr>
          <p:cNvPr id="10" name="Text 8"/>
          <p:cNvSpPr/>
          <p:nvPr/>
        </p:nvSpPr>
        <p:spPr>
          <a:xfrm>
            <a:off x="639945" y="2692399"/>
            <a:ext cx="2699046" cy="381396"/>
          </a:xfrm>
          <a:prstGeom prst="rect">
            <a:avLst/>
          </a:prstGeom>
          <a:noFill/>
          <a:ln/>
        </p:spPr>
        <p:txBody>
          <a:bodyPr wrap="square" lIns="0" tIns="0" rIns="0" bIns="0" rtlCol="0" anchor="t"/>
          <a:lstStyle/>
          <a:p>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Know the culture?</a:t>
            </a:r>
            <a:endParaRPr lang="en-GB" sz="2090" dirty="0"/>
          </a:p>
        </p:txBody>
      </p:sp>
      <p:sp>
        <p:nvSpPr>
          <p:cNvPr id="11" name="Text 9"/>
          <p:cNvSpPr/>
          <p:nvPr/>
        </p:nvSpPr>
        <p:spPr>
          <a:xfrm>
            <a:off x="639945" y="3060987"/>
            <a:ext cx="2699046"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Help shape the questions and challenge what the evidence shows.</a:t>
            </a:r>
            <a:endParaRPr lang="en-GB" sz="1800" dirty="0"/>
          </a:p>
        </p:txBody>
      </p:sp>
      <p:sp>
        <p:nvSpPr>
          <p:cNvPr id="12" name="Text 10"/>
          <p:cNvSpPr/>
          <p:nvPr/>
        </p:nvSpPr>
        <p:spPr>
          <a:xfrm>
            <a:off x="3415520" y="2692399"/>
            <a:ext cx="2699212" cy="686486"/>
          </a:xfrm>
          <a:prstGeom prst="rect">
            <a:avLst/>
          </a:prstGeom>
          <a:noFill/>
          <a:ln/>
        </p:spPr>
        <p:txBody>
          <a:bodyPr wrap="square" lIns="0" tIns="0" rIns="0" bIns="0" rtlCol="0" anchor="t"/>
          <a:lstStyle/>
          <a:p>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Work with data</a:t>
            </a:r>
            <a:br/>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or research?</a:t>
            </a:r>
            <a:endParaRPr lang="en-GB" sz="2090" dirty="0"/>
          </a:p>
        </p:txBody>
      </p:sp>
      <p:sp>
        <p:nvSpPr>
          <p:cNvPr id="13" name="Text 11"/>
          <p:cNvSpPr/>
          <p:nvPr/>
        </p:nvSpPr>
        <p:spPr>
          <a:xfrm>
            <a:off x="3415520" y="3366077"/>
            <a:ext cx="2699212"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Help connect sources, test methods and understand their limits.</a:t>
            </a:r>
            <a:endParaRPr lang="en-GB" sz="1800" dirty="0"/>
          </a:p>
        </p:txBody>
      </p:sp>
      <p:sp>
        <p:nvSpPr>
          <p:cNvPr id="14" name="Text 12"/>
          <p:cNvSpPr/>
          <p:nvPr/>
        </p:nvSpPr>
        <p:spPr>
          <a:xfrm>
            <a:off x="6191261" y="2692399"/>
            <a:ext cx="2699046" cy="686486"/>
          </a:xfrm>
          <a:prstGeom prst="rect">
            <a:avLst/>
          </a:prstGeom>
          <a:noFill/>
          <a:ln/>
        </p:spPr>
        <p:txBody>
          <a:bodyPr wrap="square" lIns="0" tIns="0" rIns="0" bIns="0" rtlCol="0" anchor="t"/>
          <a:lstStyle/>
          <a:p>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Work in design</a:t>
            </a:r>
            <a:br/>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or technology?</a:t>
            </a:r>
            <a:endParaRPr lang="en-GB" sz="2090" dirty="0"/>
          </a:p>
        </p:txBody>
      </p:sp>
      <p:sp>
        <p:nvSpPr>
          <p:cNvPr id="15" name="Text 13"/>
          <p:cNvSpPr/>
          <p:nvPr/>
        </p:nvSpPr>
        <p:spPr>
          <a:xfrm>
            <a:off x="6191261" y="3366077"/>
            <a:ext cx="2699046"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Help make the evidence something people recognise and want to explore.</a:t>
            </a:r>
            <a:endParaRPr lang="en-GB" sz="1800" dirty="0"/>
          </a:p>
        </p:txBody>
      </p:sp>
      <p:sp>
        <p:nvSpPr>
          <p:cNvPr id="16" name="Text 14"/>
          <p:cNvSpPr/>
          <p:nvPr/>
        </p:nvSpPr>
        <p:spPr>
          <a:xfrm>
            <a:off x="8966836" y="2692399"/>
            <a:ext cx="2699212" cy="686486"/>
          </a:xfrm>
          <a:prstGeom prst="rect">
            <a:avLst/>
          </a:prstGeom>
          <a:noFill/>
          <a:ln/>
        </p:spPr>
        <p:txBody>
          <a:bodyPr wrap="square" lIns="0" tIns="0" rIns="0" bIns="0" rtlCol="0" anchor="t"/>
          <a:lstStyle/>
          <a:p>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Shape policy</a:t>
            </a:r>
            <a:br/>
            <a:pPr algn="l" indent="0" marL="0">
              <a:lnSpc>
                <a:spcPts val="2400"/>
              </a:lnSpc>
              <a:buNone/>
            </a:pPr>
            <a:r>
              <a:rPr lang="en-GB" sz="2090" b="1" dirty="0">
                <a:solidFill>
                  <a:srgbClr val="0000FF"/>
                </a:solidFill>
                <a:latin typeface="Archivo" pitchFamily="34" charset="0"/>
                <a:ea typeface="Archivo" pitchFamily="34" charset="-122"/>
                <a:cs typeface="Archivo" pitchFamily="34" charset="-120"/>
              </a:rPr>
              <a:t>or investment?</a:t>
            </a:r>
            <a:endParaRPr lang="en-GB" sz="2090" dirty="0"/>
          </a:p>
        </p:txBody>
      </p:sp>
      <p:sp>
        <p:nvSpPr>
          <p:cNvPr id="17" name="Text 15"/>
          <p:cNvSpPr/>
          <p:nvPr/>
        </p:nvSpPr>
        <p:spPr>
          <a:xfrm>
            <a:off x="8966836" y="3366077"/>
            <a:ext cx="2699212"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Bring a real decision and help us test what would make a difference.</a:t>
            </a:r>
            <a:endParaRPr lang="en-GB" sz="1800" dirty="0"/>
          </a:p>
        </p:txBody>
      </p:sp>
      <p:sp>
        <p:nvSpPr>
          <p:cNvPr id="18" name="Text 16"/>
          <p:cNvSpPr/>
          <p:nvPr/>
        </p:nvSpPr>
        <p:spPr>
          <a:xfrm>
            <a:off x="639945" y="4783216"/>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0000FF"/>
                </a:solidFill>
                <a:latin typeface="Inter SemiBold" pitchFamily="34" charset="0"/>
                <a:ea typeface="Inter SemiBold" pitchFamily="34" charset="-122"/>
                <a:cs typeface="Inter SemiBold" pitchFamily="34" charset="-120"/>
              </a:rPr>
              <a:t>Let’s build it together.</a:t>
            </a:r>
            <a:endParaRPr lang="en-GB" sz="1950" dirty="0"/>
          </a:p>
        </p:txBody>
      </p:sp>
      <p:sp>
        <p:nvSpPr>
          <p:cNvPr id="19" name="Text 17"/>
          <p:cNvSpPr/>
          <p:nvPr/>
        </p:nvSpPr>
        <p:spPr>
          <a:xfrm>
            <a:off x="639945" y="5212161"/>
            <a:ext cx="11026102" cy="342746"/>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0000FF"/>
                </a:solidFill>
                <a:latin typeface="Archivo" pitchFamily="34" charset="0"/>
                <a:ea typeface="Archivo" pitchFamily="34" charset="-122"/>
                <a:cs typeface="Archivo" pitchFamily="34" charset="-120"/>
              </a:rPr>
              <a:t>Carly Heath · carly@nightlifeculture.co.uk</a:t>
            </a:r>
            <a:endParaRPr lang="en-GB" sz="1800" dirty="0"/>
          </a:p>
        </p:txBody>
      </p:sp>
      <p:sp>
        <p:nvSpPr>
          <p:cNvPr id="20" name="Text 18"/>
          <p:cNvSpPr/>
          <p:nvPr/>
        </p:nvSpPr>
        <p:spPr>
          <a:xfrm>
            <a:off x="639945" y="6088241"/>
            <a:ext cx="8815564" cy="438198"/>
          </a:xfrm>
          <a:prstGeom prst="rect">
            <a:avLst/>
          </a:prstGeom>
          <a:noFill/>
          <a:ln/>
        </p:spPr>
        <p:txBody>
          <a:bodyPr wrap="square" lIns="0" tIns="0" rIns="0" bIns="0" rtlCol="0" anchor="t"/>
          <a:lstStyle/>
          <a:p>
            <a:pPr algn="l" indent="0" marL="0">
              <a:lnSpc>
                <a:spcPts val="2760"/>
              </a:lnSpc>
              <a:buNone/>
            </a:pPr>
            <a:r>
              <a:rPr lang="en-GB" sz="2300" dirty="0">
                <a:solidFill>
                  <a:srgbClr val="FFFFFF"/>
                </a:solidFill>
                <a:latin typeface="Inter SemiBold" pitchFamily="34" charset="0"/>
                <a:ea typeface="Inter SemiBold" pitchFamily="34" charset="-122"/>
                <a:cs typeface="Inter SemiBold" pitchFamily="34" charset="-120"/>
              </a:rPr>
              <a:t>The Vibe Map is the start. What we do with it is the revolution.</a:t>
            </a:r>
            <a:endParaRPr lang="en-GB" sz="2300" dirty="0"/>
          </a:p>
        </p:txBody>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4244" y="6033341"/>
            <a:ext cx="1117506" cy="4601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FF"/>
        </a:solidFill>
      </p:bgPr>
    </p:bg>
    <p:spTree>
      <p:nvGrpSpPr>
        <p:cNvPr id="1" name=""/>
        <p:cNvGrpSpPr/>
        <p:nvPr/>
      </p:nvGrpSpPr>
      <p:grpSpPr>
        <a:xfrm>
          <a:off x="0" y="0"/>
          <a:ext cx="0" cy="0"/>
          <a:chOff x="0" y="0"/>
          <a:chExt cx="0" cy="0"/>
        </a:xfrm>
      </p:grpSpPr>
      <p:sp>
        <p:nvSpPr>
          <p:cNvPr id="2" name="Shape 0"/>
          <p:cNvSpPr/>
          <p:nvPr/>
        </p:nvSpPr>
        <p:spPr>
          <a:xfrm>
            <a:off x="639945" y="1724213"/>
            <a:ext cx="2182262" cy="51096"/>
          </a:xfrm>
          <a:prstGeom prst="rect">
            <a:avLst/>
          </a:prstGeom>
          <a:solidFill>
            <a:srgbClr val="FFFFFF"/>
          </a:solidFill>
          <a:ln/>
        </p:spPr>
      </p:sp>
      <p:sp>
        <p:nvSpPr>
          <p:cNvPr id="3" name="Text 1"/>
          <p:cNvSpPr/>
          <p:nvPr/>
        </p:nvSpPr>
        <p:spPr>
          <a:xfrm>
            <a:off x="639945" y="457056"/>
            <a:ext cx="11026102" cy="923776"/>
          </a:xfrm>
          <a:prstGeom prst="rect">
            <a:avLst/>
          </a:prstGeom>
          <a:noFill/>
          <a:ln/>
        </p:spPr>
        <p:txBody>
          <a:bodyPr wrap="square" lIns="0" tIns="0" rIns="0" bIns="0" rtlCol="0" anchor="t"/>
          <a:lstStyle/>
          <a:p>
            <a:pPr algn="l" indent="0" marL="0">
              <a:lnSpc>
                <a:spcPts val="5820"/>
              </a:lnSpc>
              <a:buNone/>
            </a:pPr>
            <a:r>
              <a:rPr lang="en-GB" sz="6000" spc="-60" kern="0" dirty="0" cap="all">
                <a:solidFill>
                  <a:srgbClr val="FFFFFF"/>
                </a:solidFill>
                <a:latin typeface="Archivo Black" pitchFamily="34" charset="0"/>
                <a:ea typeface="Archivo Black" pitchFamily="34" charset="-122"/>
                <a:cs typeface="Archivo Black" pitchFamily="34" charset="-120"/>
              </a:rPr>
              <a:t>Why I’m building this</a:t>
            </a:r>
            <a:endParaRPr lang="en-GB" sz="6000" dirty="0"/>
          </a:p>
        </p:txBody>
      </p:sp>
      <p:sp>
        <p:nvSpPr>
          <p:cNvPr id="4" name="Text 2"/>
          <p:cNvSpPr/>
          <p:nvPr/>
        </p:nvSpPr>
        <p:spPr>
          <a:xfrm>
            <a:off x="639945" y="1323049"/>
            <a:ext cx="11026102" cy="342746"/>
          </a:xfrm>
          <a:prstGeom prst="rect">
            <a:avLst/>
          </a:prstGeom>
          <a:noFill/>
          <a:ln/>
        </p:spPr>
        <p:txBody>
          <a:bodyPr wrap="square" lIns="0" tIns="0" rIns="0" bIns="0" rtlCol="0" anchor="t"/>
          <a:lstStyle/>
          <a:p>
            <a:pPr algn="l" indent="0" marL="0">
              <a:lnSpc>
                <a:spcPts val="2160"/>
              </a:lnSpc>
              <a:buNone/>
            </a:pPr>
            <a:r>
              <a:rPr lang="en-GB" sz="1800" b="1" spc="36" kern="0" dirty="0" cap="all">
                <a:solidFill>
                  <a:srgbClr val="53E6E5"/>
                </a:solidFill>
                <a:latin typeface="Archivo" pitchFamily="34" charset="0"/>
                <a:ea typeface="Archivo" pitchFamily="34" charset="-122"/>
                <a:cs typeface="Archivo" pitchFamily="34" charset="-120"/>
              </a:rPr>
              <a:t>Carly Heath · Founder of Nightlife Culture</a:t>
            </a:r>
            <a:endParaRPr lang="en-GB" sz="1800" dirty="0"/>
          </a:p>
        </p:txBody>
      </p:sp>
      <p:sp>
        <p:nvSpPr>
          <p:cNvPr id="5" name="Text 3"/>
          <p:cNvSpPr/>
          <p:nvPr/>
        </p:nvSpPr>
        <p:spPr>
          <a:xfrm>
            <a:off x="639945" y="1902307"/>
            <a:ext cx="5379208" cy="1742508"/>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I’ve spent more than two decades making culture happen: promoting nights, producing festivals, working inside cultural institutions and developing public policy. I spent five years inside local government as Bristol’s Night Time Economy Advisor.</a:t>
            </a:r>
            <a:endParaRPr lang="en-GB" sz="1800" dirty="0"/>
          </a:p>
        </p:txBody>
      </p:sp>
      <p:sp>
        <p:nvSpPr>
          <p:cNvPr id="6" name="Text 4"/>
          <p:cNvSpPr/>
          <p:nvPr/>
        </p:nvSpPr>
        <p:spPr>
          <a:xfrm>
            <a:off x="639945" y="3638591"/>
            <a:ext cx="5379208"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I know what it takes to get people into a room, build trust and turn an idea into something real. I also know what happens when the people making decisions cannot see the culture in front of them.</a:t>
            </a:r>
            <a:endParaRPr lang="en-GB" sz="1800" dirty="0"/>
          </a:p>
        </p:txBody>
      </p:sp>
      <p:sp>
        <p:nvSpPr>
          <p:cNvPr id="7" name="Text 5"/>
          <p:cNvSpPr/>
          <p:nvPr/>
        </p:nvSpPr>
        <p:spPr>
          <a:xfrm>
            <a:off x="6286674" y="1902307"/>
            <a:ext cx="5379374" cy="1742508"/>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My practice brings creative production, human-centred design, evidence and restorative economics together. I’m interested in the connections between those worlds, and in returning influence and resources to the people creating value.</a:t>
            </a:r>
            <a:endParaRPr lang="en-GB" sz="1800" dirty="0"/>
          </a:p>
        </p:txBody>
      </p:sp>
      <p:sp>
        <p:nvSpPr>
          <p:cNvPr id="8" name="Text 6"/>
          <p:cNvSpPr/>
          <p:nvPr/>
        </p:nvSpPr>
        <p:spPr>
          <a:xfrm>
            <a:off x="639945" y="6007380"/>
            <a:ext cx="11026102" cy="377470"/>
          </a:xfrm>
          <a:prstGeom prst="rect">
            <a:avLst/>
          </a:prstGeom>
          <a:noFill/>
          <a:ln/>
        </p:spPr>
        <p:txBody>
          <a:bodyPr wrap="square" lIns="0" tIns="0" rIns="0" bIns="0" rtlCol="0" anchor="t"/>
          <a:lstStyle/>
          <a:p>
            <a:pPr algn="l" indent="0" marL="0">
              <a:lnSpc>
                <a:spcPts val="2380"/>
              </a:lnSpc>
              <a:buNone/>
            </a:pPr>
            <a:r>
              <a:rPr lang="en-GB" sz="1950" dirty="0">
                <a:solidFill>
                  <a:srgbClr val="53E6E5"/>
                </a:solidFill>
                <a:latin typeface="Inter SemiBold" pitchFamily="34" charset="0"/>
                <a:ea typeface="Inter SemiBold" pitchFamily="34" charset="-122"/>
                <a:cs typeface="Inter SemiBold" pitchFamily="34" charset="-120"/>
              </a:rPr>
              <a:t>Nightlife Culture is where I’m bringing that experience together.</a:t>
            </a:r>
            <a:endParaRPr lang="en-GB" sz="195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39945" y="3808417"/>
            <a:ext cx="2182262" cy="51096"/>
          </a:xfrm>
          <a:prstGeom prst="rect">
            <a:avLst/>
          </a:prstGeom>
          <a:solidFill>
            <a:srgbClr val="ED77C2"/>
          </a:solidFill>
          <a:ln/>
        </p:spPr>
      </p:sp>
      <p:sp>
        <p:nvSpPr>
          <p:cNvPr id="3" name="Text 1"/>
          <p:cNvSpPr/>
          <p:nvPr/>
        </p:nvSpPr>
        <p:spPr>
          <a:xfrm>
            <a:off x="639945" y="457056"/>
            <a:ext cx="11026102" cy="1199912"/>
          </a:xfrm>
          <a:prstGeom prst="rect">
            <a:avLst/>
          </a:prstGeom>
          <a:noFill/>
          <a:ln/>
        </p:spPr>
        <p:txBody>
          <a:bodyPr wrap="square" lIns="0" tIns="0" rIns="0" bIns="0" rtlCol="0" anchor="t"/>
          <a:lstStyle/>
          <a:p>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What’s the lifetime</a:t>
            </a:r>
            <a:br/>
            <a:pPr algn="l" indent="0" marL="0">
              <a:lnSpc>
                <a:spcPts val="4200"/>
              </a:lnSpc>
              <a:buNone/>
            </a:pPr>
            <a:r>
              <a:rPr lang="en-GB" sz="4330" spc="-43" kern="0" dirty="0" cap="all">
                <a:solidFill>
                  <a:srgbClr val="FFFFFF"/>
                </a:solidFill>
                <a:latin typeface="Archivo Black" pitchFamily="34" charset="0"/>
                <a:ea typeface="Archivo Black" pitchFamily="34" charset="-122"/>
                <a:cs typeface="Archivo Black" pitchFamily="34" charset="-120"/>
              </a:rPr>
              <a:t>value of a resident DJ?</a:t>
            </a:r>
            <a:endParaRPr lang="en-GB" sz="4330" dirty="0"/>
          </a:p>
        </p:txBody>
      </p:sp>
      <p:sp>
        <p:nvSpPr>
          <p:cNvPr id="4" name="Text 2"/>
          <p:cNvSpPr/>
          <p:nvPr/>
        </p:nvSpPr>
        <p:spPr>
          <a:xfrm>
            <a:off x="639945" y="1650628"/>
            <a:ext cx="11026102" cy="1158150"/>
          </a:xfrm>
          <a:prstGeom prst="rect">
            <a:avLst/>
          </a:prstGeom>
          <a:noFill/>
          <a:ln/>
        </p:spPr>
        <p:txBody>
          <a:bodyPr wrap="square" lIns="0" tIns="0" rIns="0" bIns="0" rtlCol="0" anchor="t"/>
          <a:lstStyle/>
          <a:p>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Someone plays the same room for years. People return, friendships form,</a:t>
            </a:r>
            <a:br/>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new artists get heard and a scene develops its own sound. A career chart</a:t>
            </a:r>
            <a:br/>
            <a:pPr algn="l" indent="0" marL="0">
              <a:lnSpc>
                <a:spcPts val="2810"/>
              </a:lnSpc>
              <a:buNone/>
            </a:pPr>
            <a:r>
              <a:rPr lang="en-GB" sz="2300" dirty="0">
                <a:solidFill>
                  <a:srgbClr val="FFFFFF"/>
                </a:solidFill>
                <a:latin typeface="Inter SemiBold" pitchFamily="34" charset="0"/>
                <a:ea typeface="Inter SemiBold" pitchFamily="34" charset="-122"/>
                <a:cs typeface="Inter SemiBold" pitchFamily="34" charset="-120"/>
              </a:rPr>
              <a:t>might see very little movement. A community might see an anchor.</a:t>
            </a:r>
            <a:endParaRPr lang="en-GB" sz="2300" dirty="0"/>
          </a:p>
        </p:txBody>
      </p:sp>
      <p:sp>
        <p:nvSpPr>
          <p:cNvPr id="5" name="Text 3"/>
          <p:cNvSpPr/>
          <p:nvPr/>
        </p:nvSpPr>
        <p:spPr>
          <a:xfrm>
            <a:off x="639945" y="2846680"/>
            <a:ext cx="11026102" cy="939125"/>
          </a:xfrm>
          <a:prstGeom prst="rect">
            <a:avLst/>
          </a:prstGeom>
          <a:noFill/>
          <a:ln/>
        </p:spPr>
        <p:txBody>
          <a:bodyPr wrap="square" lIns="0" tIns="0" rIns="0" bIns="0" rtlCol="0" anchor="t"/>
          <a:lstStyle/>
          <a:p>
            <a:pPr algn="l" indent="0" marL="0">
              <a:lnSpc>
                <a:spcPts val="3290"/>
              </a:lnSpc>
              <a:buNone/>
            </a:pPr>
            <a:r>
              <a:rPr lang="en-GB" sz="2740" dirty="0">
                <a:solidFill>
                  <a:srgbClr val="53E6E5"/>
                </a:solidFill>
                <a:latin typeface="Inter SemiBold" pitchFamily="34" charset="0"/>
                <a:ea typeface="Inter SemiBold" pitchFamily="34" charset="-122"/>
                <a:cs typeface="Inter SemiBold" pitchFamily="34" charset="-120"/>
              </a:rPr>
              <a:t>We’re good at measuring the tallest trees. What about the</a:t>
            </a:r>
            <a:br/>
            <a:pPr algn="l" indent="0" marL="0">
              <a:lnSpc>
                <a:spcPts val="3290"/>
              </a:lnSpc>
              <a:buNone/>
            </a:pPr>
            <a:r>
              <a:rPr lang="en-GB" sz="2740" dirty="0">
                <a:solidFill>
                  <a:srgbClr val="53E6E5"/>
                </a:solidFill>
                <a:latin typeface="Inter SemiBold" pitchFamily="34" charset="0"/>
                <a:ea typeface="Inter SemiBold" pitchFamily="34" charset="-122"/>
                <a:cs typeface="Inter SemiBold" pitchFamily="34" charset="-120"/>
              </a:rPr>
              <a:t>ecosystem underneath?</a:t>
            </a:r>
            <a:endParaRPr lang="en-GB" sz="2740" dirty="0"/>
          </a:p>
        </p:txBody>
      </p:sp>
      <p:sp>
        <p:nvSpPr>
          <p:cNvPr id="6" name="Text 4"/>
          <p:cNvSpPr/>
          <p:nvPr/>
        </p:nvSpPr>
        <p:spPr>
          <a:xfrm>
            <a:off x="639945" y="3986510"/>
            <a:ext cx="5379208" cy="1463710"/>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Can recurring names, nights and connections in event data help us recognise that activity? Can the people who know the scene tell us whether our interpretation makes sense? What would make that a credible indication of cultural value?</a:t>
            </a:r>
            <a:endParaRPr lang="en-GB" sz="1800" dirty="0"/>
          </a:p>
        </p:txBody>
      </p:sp>
      <p:sp>
        <p:nvSpPr>
          <p:cNvPr id="7" name="Text 5"/>
          <p:cNvSpPr/>
          <p:nvPr/>
        </p:nvSpPr>
        <p:spPr>
          <a:xfrm>
            <a:off x="6286674" y="3986510"/>
            <a:ext cx="5379374" cy="1184912"/>
          </a:xfrm>
          <a:prstGeom prst="rect">
            <a:avLst/>
          </a:prstGeom>
          <a:noFill/>
          <a:ln/>
        </p:spPr>
        <p:txBody>
          <a:bodyPr wrap="square" lIns="0" tIns="0" rIns="0" bIns="0" rtlCol="0" anchor="t"/>
          <a:lstStyle/>
          <a:p>
            <a:pPr algn="l" indent="0" marL="0">
              <a:lnSpc>
                <a:spcPts val="2200"/>
              </a:lnSpc>
              <a:buNone/>
            </a:pPr>
            <a:r>
              <a:rPr lang="en-GB" sz="1800" dirty="0">
                <a:solidFill>
                  <a:srgbClr val="FFFFFF"/>
                </a:solidFill>
                <a:latin typeface="Inter" pitchFamily="34" charset="0"/>
                <a:ea typeface="Inter" pitchFamily="34" charset="-122"/>
                <a:cs typeface="Inter" pitchFamily="34" charset="-120"/>
              </a:rPr>
              <a:t>Those are questions to test. Recurrence alone cannot tell us whether people feel welcome, what a night means to them or who the data leaves out.</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FFFFFF"/>
                </a:solidFill>
                <a:latin typeface="Archivo"/>
                <a:ea typeface="Archivo"/>
                <a:cs typeface="Archivo"/>
              </a:defRPr>
            </a:lvl1pPr>
          </a:lstStyle>
          <a:p>
            <a:pPr algn="r"/>
            <a:fld id="{F7021451-1387-4CA6-816F-3879F97B5CBC}" type="slidenum">
              <a:rPr b="1" lang="en-GB"/>
              <a:t>15</a:t>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639945" y="1758443"/>
            <a:ext cx="2584749" cy="42332"/>
          </a:xfrm>
          <a:prstGeom prst="rect">
            <a:avLst/>
          </a:prstGeom>
          <a:solidFill>
            <a:srgbClr val="0000FF"/>
          </a:solidFill>
          <a:ln/>
        </p:spPr>
      </p:sp>
      <p:sp>
        <p:nvSpPr>
          <p:cNvPr id="3" name="Shape 1"/>
          <p:cNvSpPr/>
          <p:nvPr/>
        </p:nvSpPr>
        <p:spPr>
          <a:xfrm>
            <a:off x="3415520" y="1758443"/>
            <a:ext cx="2584915" cy="42332"/>
          </a:xfrm>
          <a:prstGeom prst="rect">
            <a:avLst/>
          </a:prstGeom>
          <a:solidFill>
            <a:srgbClr val="0000FF"/>
          </a:solidFill>
          <a:ln/>
        </p:spPr>
      </p:sp>
      <p:sp>
        <p:nvSpPr>
          <p:cNvPr id="4" name="Shape 2"/>
          <p:cNvSpPr/>
          <p:nvPr/>
        </p:nvSpPr>
        <p:spPr>
          <a:xfrm>
            <a:off x="6191261" y="1758443"/>
            <a:ext cx="2584749" cy="42332"/>
          </a:xfrm>
          <a:prstGeom prst="rect">
            <a:avLst/>
          </a:prstGeom>
          <a:solidFill>
            <a:srgbClr val="0000FF"/>
          </a:solidFill>
          <a:ln/>
        </p:spPr>
      </p:sp>
      <p:sp>
        <p:nvSpPr>
          <p:cNvPr id="5" name="Shape 3"/>
          <p:cNvSpPr/>
          <p:nvPr/>
        </p:nvSpPr>
        <p:spPr>
          <a:xfrm>
            <a:off x="8966836" y="1758443"/>
            <a:ext cx="2584915" cy="42332"/>
          </a:xfrm>
          <a:prstGeom prst="rect">
            <a:avLst/>
          </a:prstGeom>
          <a:solidFill>
            <a:srgbClr val="0000FF"/>
          </a:solidFill>
          <a:ln/>
        </p:spPr>
      </p:sp>
      <p:sp>
        <p:nvSpPr>
          <p:cNvPr id="6" name="Shape 4"/>
          <p:cNvSpPr/>
          <p:nvPr/>
        </p:nvSpPr>
        <p:spPr>
          <a:xfrm>
            <a:off x="639945" y="3284885"/>
            <a:ext cx="2584749" cy="42332"/>
          </a:xfrm>
          <a:prstGeom prst="rect">
            <a:avLst/>
          </a:prstGeom>
          <a:solidFill>
            <a:srgbClr val="0000FF"/>
          </a:solidFill>
          <a:ln/>
        </p:spPr>
      </p:sp>
      <p:sp>
        <p:nvSpPr>
          <p:cNvPr id="7" name="Shape 5"/>
          <p:cNvSpPr/>
          <p:nvPr/>
        </p:nvSpPr>
        <p:spPr>
          <a:xfrm>
            <a:off x="3415520" y="3284885"/>
            <a:ext cx="2584915" cy="42332"/>
          </a:xfrm>
          <a:prstGeom prst="rect">
            <a:avLst/>
          </a:prstGeom>
          <a:solidFill>
            <a:srgbClr val="0000FF"/>
          </a:solidFill>
          <a:ln/>
        </p:spPr>
      </p:sp>
      <p:sp>
        <p:nvSpPr>
          <p:cNvPr id="8" name="Shape 6"/>
          <p:cNvSpPr/>
          <p:nvPr/>
        </p:nvSpPr>
        <p:spPr>
          <a:xfrm>
            <a:off x="6191261" y="3284885"/>
            <a:ext cx="2584749" cy="42332"/>
          </a:xfrm>
          <a:prstGeom prst="rect">
            <a:avLst/>
          </a:prstGeom>
          <a:solidFill>
            <a:srgbClr val="0000FF"/>
          </a:solidFill>
          <a:ln/>
        </p:spPr>
      </p:sp>
      <p:sp>
        <p:nvSpPr>
          <p:cNvPr id="9" name="Shape 7"/>
          <p:cNvSpPr/>
          <p:nvPr/>
        </p:nvSpPr>
        <p:spPr>
          <a:xfrm>
            <a:off x="639945" y="5472935"/>
            <a:ext cx="42332" cy="836393"/>
          </a:xfrm>
          <a:prstGeom prst="rect">
            <a:avLst/>
          </a:prstGeom>
          <a:solidFill>
            <a:srgbClr val="ED77C2"/>
          </a:solidFill>
          <a:ln/>
        </p:spPr>
      </p:sp>
      <p:sp>
        <p:nvSpPr>
          <p:cNvPr id="10" name="Text 8"/>
          <p:cNvSpPr/>
          <p:nvPr/>
        </p:nvSpPr>
        <p:spPr>
          <a:xfrm>
            <a:off x="639945" y="457056"/>
            <a:ext cx="11026102" cy="554365"/>
          </a:xfrm>
          <a:prstGeom prst="rect">
            <a:avLst/>
          </a:prstGeom>
          <a:noFill/>
          <a:ln/>
        </p:spPr>
        <p:txBody>
          <a:bodyPr wrap="square" lIns="0" tIns="0" rIns="0" bIns="0" rtlCol="0" anchor="t"/>
          <a:lstStyle/>
          <a:p>
            <a:pPr algn="l" indent="0" marL="0">
              <a:lnSpc>
                <a:spcPts val="3490"/>
              </a:lnSpc>
              <a:buNone/>
            </a:pPr>
            <a:r>
              <a:rPr lang="en-GB" sz="3600" spc="-36" kern="0" dirty="0" cap="all">
                <a:solidFill>
                  <a:srgbClr val="0000FF"/>
                </a:solidFill>
                <a:latin typeface="Archivo Black" pitchFamily="34" charset="0"/>
                <a:ea typeface="Archivo Black" pitchFamily="34" charset="-122"/>
                <a:cs typeface="Archivo Black" pitchFamily="34" charset="-120"/>
              </a:rPr>
              <a:t>Our creative policy design method</a:t>
            </a:r>
            <a:endParaRPr lang="en-GB" sz="3600" dirty="0"/>
          </a:p>
        </p:txBody>
      </p:sp>
      <p:sp>
        <p:nvSpPr>
          <p:cNvPr id="11" name="Text 9"/>
          <p:cNvSpPr/>
          <p:nvPr/>
        </p:nvSpPr>
        <p:spPr>
          <a:xfrm>
            <a:off x="639945" y="1027550"/>
            <a:ext cx="11026102" cy="679418"/>
          </a:xfrm>
          <a:prstGeom prst="rect">
            <a:avLst/>
          </a:prstGeom>
          <a:noFill/>
          <a:ln/>
        </p:spPr>
        <p:txBody>
          <a:bodyPr wrap="square" lIns="0" tIns="0" rIns="0" bIns="0" rtlCol="0" anchor="t"/>
          <a:lstStyle/>
          <a:p>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Human-centred design, restorative economics and participatory creative production run</a:t>
            </a:r>
            <a:br/>
            <a:pPr algn="l" indent="0" marL="0">
              <a:lnSpc>
                <a:spcPts val="2380"/>
              </a:lnSpc>
              <a:buNone/>
            </a:pPr>
            <a:r>
              <a:rPr lang="en-GB" sz="1950" dirty="0">
                <a:solidFill>
                  <a:srgbClr val="0D0D0D"/>
                </a:solidFill>
                <a:latin typeface="Inter SemiBold" pitchFamily="34" charset="0"/>
                <a:ea typeface="Inter SemiBold" pitchFamily="34" charset="-122"/>
                <a:cs typeface="Inter SemiBold" pitchFamily="34" charset="-120"/>
              </a:rPr>
              <a:t>through the way we work.</a:t>
            </a:r>
            <a:endParaRPr lang="en-GB" sz="1950" dirty="0"/>
          </a:p>
        </p:txBody>
      </p:sp>
      <p:sp>
        <p:nvSpPr>
          <p:cNvPr id="12" name="Text 10"/>
          <p:cNvSpPr/>
          <p:nvPr/>
        </p:nvSpPr>
        <p:spPr>
          <a:xfrm>
            <a:off x="639945" y="1902307"/>
            <a:ext cx="2699046"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Listen</a:t>
            </a:r>
            <a:endParaRPr lang="en-GB" sz="2090" dirty="0"/>
          </a:p>
        </p:txBody>
      </p:sp>
      <p:sp>
        <p:nvSpPr>
          <p:cNvPr id="13" name="Text 11"/>
          <p:cNvSpPr/>
          <p:nvPr/>
        </p:nvSpPr>
        <p:spPr>
          <a:xfrm>
            <a:off x="639945" y="2270895"/>
            <a:ext cx="2699046"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Gather the people, hear their experience and agree what matters.</a:t>
            </a:r>
            <a:endParaRPr lang="en-GB" sz="1800" dirty="0"/>
          </a:p>
        </p:txBody>
      </p:sp>
      <p:sp>
        <p:nvSpPr>
          <p:cNvPr id="14" name="Text 12"/>
          <p:cNvSpPr/>
          <p:nvPr/>
        </p:nvSpPr>
        <p:spPr>
          <a:xfrm>
            <a:off x="3415520" y="1902307"/>
            <a:ext cx="2699212"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Map</a:t>
            </a:r>
            <a:endParaRPr lang="en-GB" sz="2090" dirty="0"/>
          </a:p>
        </p:txBody>
      </p:sp>
      <p:sp>
        <p:nvSpPr>
          <p:cNvPr id="15" name="Text 13"/>
          <p:cNvSpPr/>
          <p:nvPr/>
        </p:nvSpPr>
        <p:spPr>
          <a:xfrm>
            <a:off x="3415520" y="2270895"/>
            <a:ext cx="2699212"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Connect cultural activity, relationships, resources and power.</a:t>
            </a:r>
            <a:endParaRPr lang="en-GB" sz="1800" dirty="0"/>
          </a:p>
        </p:txBody>
      </p:sp>
      <p:sp>
        <p:nvSpPr>
          <p:cNvPr id="16" name="Text 14"/>
          <p:cNvSpPr/>
          <p:nvPr/>
        </p:nvSpPr>
        <p:spPr>
          <a:xfrm>
            <a:off x="6191261" y="1902307"/>
            <a:ext cx="2699046"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Ideate</a:t>
            </a:r>
            <a:endParaRPr lang="en-GB" sz="2090" dirty="0"/>
          </a:p>
        </p:txBody>
      </p:sp>
      <p:sp>
        <p:nvSpPr>
          <p:cNvPr id="17" name="Text 15"/>
          <p:cNvSpPr/>
          <p:nvPr/>
        </p:nvSpPr>
        <p:spPr>
          <a:xfrm>
            <a:off x="6191261" y="2270895"/>
            <a:ext cx="2699046"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Develop possible answers with the people affected.</a:t>
            </a:r>
            <a:endParaRPr lang="en-GB" sz="1800" dirty="0"/>
          </a:p>
        </p:txBody>
      </p:sp>
      <p:sp>
        <p:nvSpPr>
          <p:cNvPr id="18" name="Text 16"/>
          <p:cNvSpPr/>
          <p:nvPr/>
        </p:nvSpPr>
        <p:spPr>
          <a:xfrm>
            <a:off x="8966836" y="1902307"/>
            <a:ext cx="2699212"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Prototype</a:t>
            </a:r>
            <a:endParaRPr lang="en-GB" sz="2090" dirty="0"/>
          </a:p>
        </p:txBody>
      </p:sp>
      <p:sp>
        <p:nvSpPr>
          <p:cNvPr id="19" name="Text 17"/>
          <p:cNvSpPr/>
          <p:nvPr/>
        </p:nvSpPr>
        <p:spPr>
          <a:xfrm>
            <a:off x="8966836" y="2270895"/>
            <a:ext cx="2699212"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Make something tangible that people can use and challenge.</a:t>
            </a:r>
            <a:endParaRPr lang="en-GB" sz="1800" dirty="0"/>
          </a:p>
        </p:txBody>
      </p:sp>
      <p:sp>
        <p:nvSpPr>
          <p:cNvPr id="20" name="Text 18"/>
          <p:cNvSpPr/>
          <p:nvPr/>
        </p:nvSpPr>
        <p:spPr>
          <a:xfrm>
            <a:off x="639945" y="3428749"/>
            <a:ext cx="2699046"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Test</a:t>
            </a:r>
            <a:endParaRPr lang="en-GB" sz="2090" dirty="0"/>
          </a:p>
        </p:txBody>
      </p:sp>
      <p:sp>
        <p:nvSpPr>
          <p:cNvPr id="21" name="Text 19"/>
          <p:cNvSpPr/>
          <p:nvPr/>
        </p:nvSpPr>
        <p:spPr>
          <a:xfrm>
            <a:off x="639945" y="3797337"/>
            <a:ext cx="2699046"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Find out whether it is recognisable, useful and helps people act.</a:t>
            </a:r>
            <a:endParaRPr lang="en-GB" sz="1800" dirty="0"/>
          </a:p>
        </p:txBody>
      </p:sp>
      <p:sp>
        <p:nvSpPr>
          <p:cNvPr id="22" name="Text 20"/>
          <p:cNvSpPr/>
          <p:nvPr/>
        </p:nvSpPr>
        <p:spPr>
          <a:xfrm>
            <a:off x="3415520" y="3428749"/>
            <a:ext cx="2699212"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Refine</a:t>
            </a:r>
            <a:endParaRPr lang="en-GB" sz="2090" dirty="0"/>
          </a:p>
        </p:txBody>
      </p:sp>
      <p:sp>
        <p:nvSpPr>
          <p:cNvPr id="23" name="Text 21"/>
          <p:cNvSpPr/>
          <p:nvPr/>
        </p:nvSpPr>
        <p:spPr>
          <a:xfrm>
            <a:off x="3415520" y="3797337"/>
            <a:ext cx="2699212"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Change the work and the method in response to what we learn.</a:t>
            </a:r>
            <a:endParaRPr lang="en-GB" sz="1800" dirty="0"/>
          </a:p>
        </p:txBody>
      </p:sp>
      <p:sp>
        <p:nvSpPr>
          <p:cNvPr id="24" name="Text 22"/>
          <p:cNvSpPr/>
          <p:nvPr/>
        </p:nvSpPr>
        <p:spPr>
          <a:xfrm>
            <a:off x="6191261" y="3428749"/>
            <a:ext cx="2699046" cy="381396"/>
          </a:xfrm>
          <a:prstGeom prst="rect">
            <a:avLst/>
          </a:prstGeom>
          <a:noFill/>
          <a:ln/>
        </p:spPr>
        <p:txBody>
          <a:bodyPr wrap="square" lIns="0" tIns="0" rIns="0" bIns="0" rtlCol="0" anchor="t"/>
          <a:lstStyle/>
          <a:p>
            <a:pPr algn="l" indent="0" marL="0">
              <a:lnSpc>
                <a:spcPts val="2400"/>
              </a:lnSpc>
              <a:buNone/>
            </a:pPr>
            <a:r>
              <a:rPr lang="en-GB" sz="2090" b="1" spc="42" kern="0" dirty="0" cap="all">
                <a:solidFill>
                  <a:srgbClr val="0000FF"/>
                </a:solidFill>
                <a:latin typeface="Archivo" pitchFamily="34" charset="0"/>
                <a:ea typeface="Archivo" pitchFamily="34" charset="-122"/>
                <a:cs typeface="Archivo" pitchFamily="34" charset="-120"/>
              </a:rPr>
              <a:t>Expand</a:t>
            </a:r>
            <a:endParaRPr lang="en-GB" sz="2090" dirty="0"/>
          </a:p>
        </p:txBody>
      </p:sp>
      <p:sp>
        <p:nvSpPr>
          <p:cNvPr id="25" name="Text 23"/>
          <p:cNvSpPr/>
          <p:nvPr/>
        </p:nvSpPr>
        <p:spPr>
          <a:xfrm>
            <a:off x="6191261" y="3797337"/>
            <a:ext cx="2699046" cy="1184912"/>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Adapt what works in another context while preserving local identity.</a:t>
            </a:r>
            <a:endParaRPr lang="en-GB" sz="1800" dirty="0"/>
          </a:p>
        </p:txBody>
      </p:sp>
      <p:sp>
        <p:nvSpPr>
          <p:cNvPr id="26" name="Text 24"/>
          <p:cNvSpPr/>
          <p:nvPr/>
        </p:nvSpPr>
        <p:spPr>
          <a:xfrm>
            <a:off x="961710" y="5472935"/>
            <a:ext cx="10049510" cy="906114"/>
          </a:xfrm>
          <a:prstGeom prst="rect">
            <a:avLst/>
          </a:prstGeom>
          <a:noFill/>
          <a:ln/>
        </p:spPr>
        <p:txBody>
          <a:bodyPr wrap="square" lIns="0" tIns="0" rIns="0" bIns="0" rtlCol="0" anchor="t"/>
          <a:lstStyle/>
          <a:p>
            <a:pPr algn="l" indent="0" marL="0">
              <a:lnSpc>
                <a:spcPts val="2200"/>
              </a:lnSpc>
              <a:buNone/>
            </a:pPr>
            <a:r>
              <a:rPr lang="en-GB" sz="1800" dirty="0">
                <a:solidFill>
                  <a:srgbClr val="0D0D0D"/>
                </a:solidFill>
                <a:latin typeface="Inter" pitchFamily="34" charset="0"/>
                <a:ea typeface="Inter" pitchFamily="34" charset="-122"/>
                <a:cs typeface="Inter" pitchFamily="34" charset="-120"/>
              </a:rPr>
              <a:t>The unexpected connection between people with different experience is often where a new possibility begins. We make room for that, and do the practical work needed to follow it through.</a:t>
            </a:r>
            <a:endParaRPr lang="en-GB" sz="1800" dirty="0"/>
          </a:p>
        </p:txBody>
      </p:sp>
      <p:sp>
        <p:nvSpPr>
          <p:cNvPr id="25" name="Slide Number Placeholder 0"/>
          <p:cNvSpPr>
            <a:spLocks noGrp="1"/>
          </p:cNvSpPr>
          <p:nvPr>
            <p:ph type="sldNum" sz="quarter" idx="4294967295"/>
          </p:nvPr>
        </p:nvSpPr>
        <p:spPr>
          <a:xfrm>
            <a:off x="10637231" y="6217943"/>
            <a:ext cx="91440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600">
                <a:solidFill>
                  <a:srgbClr val="0D0D0D"/>
                </a:solidFill>
                <a:latin typeface="Archivo"/>
                <a:ea typeface="Archivo"/>
                <a:cs typeface="Archivo"/>
              </a:defRPr>
            </a:lvl1pPr>
          </a:lstStyle>
          <a:p>
            <a:pPr algn="r"/>
            <a:fld id="{F7021451-1387-4CA6-816F-3879F97B5CBC}" type="slidenum">
              <a:rPr b="1" lang="en-GB"/>
              <a:t>16</a:t>
            </a:fld>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Nightlife Culture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Nightlife Culture · Vibe Map partner deck</dc:title>
  <dc:subject>PptxGenJS Presentation</dc:subject>
  <dc:creator>Carly Heath · Nightlife Culture</dc:creator>
  <cp:lastModifiedBy>Carly Heath · Nightlife Culture</cp:lastModifiedBy>
  <cp:revision>1</cp:revision>
  <dcterms:created xsi:type="dcterms:W3CDTF">2026-10-14T13:56:16Z</dcterms:created>
  <dcterms:modified xsi:type="dcterms:W3CDTF">2026-10-14T13:56:16Z</dcterms:modified>
</cp:coreProperties>
</file>