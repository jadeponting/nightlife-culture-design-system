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the proposition.  VISUAL DIRECTION: Full-bleed human nightlife image; title held in a clear brand block. [Photo slot reserved — no photography rules exist in the system yet; drop your image behind the title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conviction.  VISUAL DIRECTION: Single statement; no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abundance and value.  VISUAL DIRECTION: People-centred scene photography; three short value labels. [Photo slot 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mechanism.  VISUAL DIRECTION: Large causal pathway; short examples under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insight legible.  VISUAL DIRECTION: Two-layer timeline: where culture begins / where systems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problem UKDF can move.  VISUAL DIRECTION: Four linked gaps converging on one missing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response.  VISUAL DIRECTION: National network composed of distinct local nodes; avoid generic map 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institution consistently.  VISUAL DIRECTION: Studio definition plus short proposition and audience-belief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bridge.  VISUAL DIRECTION: Dancefloor-to-decision-room bridge using two photographic worlds. [Photo slot 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repeatable practice visible.  VISUAL DIRECTION: Seven-stage horizontal or circular sequence with the user-facing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delivery ecology.  VISUAL DIRECTION: Partner constellation around a shared question, with Nightlife Culture as producer, translator and integrator.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founder fit.  VISUAL DIRECTION: Four environments with one continuous line. [Photo slot 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verified track record.  VISUAL DIRECTION: Evidence-led timeline; concise proof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live reference properly.  VISUAL DIRECTION: Journey from shared problem to CBS and future member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funding roles and extract learning.  VISUAL DIRECTION: Two connected lanes with a clean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field of inquiry.  VISUAL DIRECTION: Five generous panels; no dense 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proposal with ambition and discipline.  VISUAL DIRECTION: Layered evidence architecture with distinct local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route credible.  VISUAL DIRECTION: Overlapping 12-month timeline; phase outcomes beneath the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meaningful outcomes.  VISUAL DIRECTION: Five audience outcomes; people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highest-priority use.  VISUAL DIRECTION: One joined resource flowing into four step-change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resource and step change.  VISUAL DIRECTION: Large £50k figure; restrained phase strip; close on the primary organising proposition.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FF"/>
        </a:solidFill>
      </p:bgPr>
    </p:bg>
    <p:spTree>
      <p:nvGrpSpPr>
        <p:cNvPr id="1" name=""/>
        <p:cNvGrpSpPr/>
        <p:nvPr/>
      </p:nvGrpSpPr>
      <p:grpSpPr>
        <a:xfrm>
          <a:off x="0" y="0"/>
          <a:ext cx="0" cy="0"/>
          <a:chOff x="0" y="0"/>
          <a:chExt cx="0" cy="0"/>
        </a:xfrm>
      </p:grpSpPr>
      <p:pic>
        <p:nvPicPr>
          <p:cNvPr id="3" name="Image 0" descr="/home/claude/build/adapters/powerpoint/wordmark-white.png">    </p:cNvPr>
          <p:cNvPicPr>
            <a:picLocks noChangeAspect="1"/>
          </p:cNvPicPr>
          <p:nvPr/>
        </p:nvPicPr>
        <p:blipFill>
          <a:blip r:embed="rId1"/>
          <a:stretch>
            <a:fillRect/>
          </a:stretch>
        </p:blipFill>
        <p:spPr>
          <a:xfrm>
            <a:off x="640064" y="914377"/>
            <a:ext cx="2103120" cy="868680"/>
          </a:xfrm>
          <a:prstGeom prst="rect">
            <a:avLst/>
          </a:prstGeom>
        </p:spPr>
      </p:pic>
      <p:sp>
        <p:nvSpPr>
          <p:cNvPr id="4" name="Text 0"/>
          <p:cNvSpPr/>
          <p:nvPr/>
        </p:nvSpPr>
        <p:spPr>
          <a:xfrm>
            <a:off x="640064" y="2651760"/>
            <a:ext cx="10911567" cy="2011680"/>
          </a:xfrm>
          <a:prstGeom prst="rect">
            <a:avLst/>
          </a:prstGeom>
          <a:noFill/>
          <a:ln/>
        </p:spPr>
        <p:txBody>
          <a:bodyPr wrap="square" lIns="0" tIns="0" rIns="0" bIns="0" rtlCol="0" anchor="ctr"/>
          <a:lstStyle/>
          <a:p>
            <a:pPr indent="0" marL="0">
              <a:lnSpc>
                <a:spcPts val="6200"/>
              </a:lnSpc>
              <a:buNone/>
            </a:pPr>
            <a:r>
              <a:rPr lang="en-US" sz="6600" dirty="0" cap="all">
                <a:solidFill>
                  <a:srgbClr val="FFFFFF"/>
                </a:solidFill>
                <a:latin typeface="Archivo Black" pitchFamily="34" charset="0"/>
                <a:ea typeface="Archivo Black" pitchFamily="34" charset="-122"/>
                <a:cs typeface="Archivo Black" pitchFamily="34" charset="-120"/>
              </a:rPr>
              <a:t>Artists make great places</a:t>
            </a:r>
            <a:endParaRPr lang="en-US" sz="6600" dirty="0"/>
          </a:p>
        </p:txBody>
      </p:sp>
      <p:sp>
        <p:nvSpPr>
          <p:cNvPr id="5" name="Shape 1"/>
          <p:cNvSpPr/>
          <p:nvPr/>
        </p:nvSpPr>
        <p:spPr>
          <a:xfrm>
            <a:off x="640064" y="4709160"/>
            <a:ext cx="2011680" cy="54864"/>
          </a:xfrm>
          <a:prstGeom prst="rect">
            <a:avLst/>
          </a:prstGeom>
          <a:solidFill>
            <a:srgbClr val="53E6E5"/>
          </a:solidFill>
          <a:ln/>
        </p:spPr>
      </p:sp>
      <p:sp>
        <p:nvSpPr>
          <p:cNvPr id="6" name="Text 2"/>
          <p:cNvSpPr/>
          <p:nvPr/>
        </p:nvSpPr>
        <p:spPr>
          <a:xfrm>
            <a:off x="640064" y="4937760"/>
            <a:ext cx="6765172" cy="640080"/>
          </a:xfrm>
          <a:prstGeom prst="rect">
            <a:avLst/>
          </a:prstGeom>
          <a:noFill/>
          <a:ln/>
        </p:spPr>
        <p:txBody>
          <a:bodyPr wrap="square" lIns="0" tIns="0" rIns="0" bIns="0" rtlCol="0" anchor="ctr"/>
          <a:lstStyle/>
          <a:p>
            <a:pPr indent="0" marL="0">
              <a:buNone/>
            </a:pPr>
            <a:r>
              <a:rPr lang="en-US" sz="2200" b="1" dirty="0">
                <a:solidFill>
                  <a:srgbClr val="FFFFFF"/>
                </a:solidFill>
                <a:latin typeface="Archivo" pitchFamily="34" charset="0"/>
                <a:ea typeface="Archivo" pitchFamily="34" charset="-122"/>
                <a:cs typeface="Archivo" pitchFamily="34" charset="-120"/>
              </a:rPr>
              <a:t>Nightlife as infrastructure for agency, talent and place.</a:t>
            </a:r>
            <a:endParaRPr lang="en-US" sz="2200" dirty="0"/>
          </a:p>
        </p:txBody>
      </p:sp>
      <p:sp>
        <p:nvSpPr>
          <p:cNvPr id="7" name="Text 3"/>
          <p:cNvSpPr/>
          <p:nvPr/>
        </p:nvSpPr>
        <p:spPr>
          <a:xfrm>
            <a:off x="640064" y="6217943"/>
            <a:ext cx="9814287" cy="274320"/>
          </a:xfrm>
          <a:prstGeom prst="rect">
            <a:avLst/>
          </a:prstGeom>
          <a:noFill/>
          <a:ln/>
        </p:spPr>
        <p:txBody>
          <a:bodyPr wrap="square" lIns="0" tIns="0" rIns="0" bIns="0" rtlCol="0" anchor="ctr"/>
          <a:lstStyle/>
          <a:p>
            <a:pPr indent="0" marL="0">
              <a:buNone/>
            </a:pPr>
            <a:r>
              <a:rPr lang="en-US" sz="1400" b="1" spc="300" kern="0" dirty="0" cap="all">
                <a:solidFill>
                  <a:srgbClr val="53E6E5"/>
                </a:solidFill>
                <a:latin typeface="Archivo" pitchFamily="34" charset="0"/>
                <a:ea typeface="Archivo" pitchFamily="34" charset="-122"/>
                <a:cs typeface="Archivo" pitchFamily="34" charset="-120"/>
              </a:rPr>
              <a:t>UKDF Fellowship proposal · Carly Heath, Nightlife Culture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FF"/>
        </a:solidFill>
      </p:bgPr>
    </p:bg>
    <p:spTree>
      <p:nvGrpSpPr>
        <p:cNvPr id="1" name=""/>
        <p:cNvGrpSpPr/>
        <p:nvPr/>
      </p:nvGrpSpPr>
      <p:grpSpPr>
        <a:xfrm>
          <a:off x="0" y="0"/>
          <a:ext cx="0" cy="0"/>
          <a:chOff x="0" y="0"/>
          <a:chExt cx="0" cy="0"/>
        </a:xfrm>
      </p:grpSpPr>
      <p:sp>
        <p:nvSpPr>
          <p:cNvPr id="3" name="Text 0"/>
          <p:cNvSpPr/>
          <p:nvPr/>
        </p:nvSpPr>
        <p:spPr>
          <a:xfrm>
            <a:off x="640064" y="1371600"/>
            <a:ext cx="10911567" cy="2377440"/>
          </a:xfrm>
          <a:prstGeom prst="rect">
            <a:avLst/>
          </a:prstGeom>
          <a:noFill/>
          <a:ln/>
        </p:spPr>
        <p:txBody>
          <a:bodyPr wrap="square" lIns="0" tIns="0" rIns="0" bIns="0" rtlCol="0" anchor="ctr"/>
          <a:lstStyle/>
          <a:p>
            <a:pPr indent="0" marL="0">
              <a:lnSpc>
                <a:spcPts val="4600"/>
              </a:lnSpc>
              <a:buNone/>
            </a:pPr>
            <a:r>
              <a:rPr lang="en-US" sz="4400" dirty="0" cap="all">
                <a:solidFill>
                  <a:srgbClr val="FFFFFF"/>
                </a:solidFill>
                <a:latin typeface="Archivo Black" pitchFamily="34" charset="0"/>
                <a:ea typeface="Archivo Black" pitchFamily="34" charset="-122"/>
                <a:cs typeface="Archivo Black" pitchFamily="34" charset="-120"/>
              </a:rPr>
              <a:t>Places don’t make great artists. Artists make great places.</a:t>
            </a:r>
            <a:endParaRPr lang="en-US" sz="4400" dirty="0"/>
          </a:p>
        </p:txBody>
      </p:sp>
      <p:sp>
        <p:nvSpPr>
          <p:cNvPr id="4" name="Shape 1"/>
          <p:cNvSpPr/>
          <p:nvPr/>
        </p:nvSpPr>
        <p:spPr>
          <a:xfrm>
            <a:off x="640064" y="3977640"/>
            <a:ext cx="2011680" cy="54864"/>
          </a:xfrm>
          <a:prstGeom prst="rect">
            <a:avLst/>
          </a:prstGeom>
          <a:solidFill>
            <a:srgbClr val="53E6E5"/>
          </a:solidFill>
          <a:ln/>
        </p:spPr>
      </p:sp>
      <p:sp>
        <p:nvSpPr>
          <p:cNvPr id="5" name="Text 2"/>
          <p:cNvSpPr/>
          <p:nvPr/>
        </p:nvSpPr>
        <p:spPr>
          <a:xfrm>
            <a:off x="640064" y="4206240"/>
            <a:ext cx="8511022" cy="1463040"/>
          </a:xfrm>
          <a:prstGeom prst="rect">
            <a:avLst/>
          </a:prstGeom>
          <a:noFill/>
          <a:ln/>
        </p:spPr>
        <p:txBody>
          <a:bodyPr wrap="square" lIns="0" tIns="0" rIns="0" bIns="0" rtlCol="0" anchor="ctr"/>
          <a:lstStyle/>
          <a:p>
            <a:pPr indent="0" marL="0">
              <a:lnSpc>
                <a:spcPts val="3000"/>
              </a:lnSpc>
              <a:buNone/>
            </a:pPr>
            <a:r>
              <a:rPr lang="en-US" sz="2200" b="1" dirty="0">
                <a:solidFill>
                  <a:srgbClr val="FFFFFF"/>
                </a:solidFill>
                <a:latin typeface="Archivo" pitchFamily="34" charset="0"/>
                <a:ea typeface="Archivo" pitchFamily="34" charset="-122"/>
                <a:cs typeface="Archivo" pitchFamily="34" charset="-120"/>
              </a:rPr>
              <a:t>Britain’s cultural dynamism begins when people gather around music, experiment, organise and create something that belongs to their time and place.</a:t>
            </a:r>
            <a:endParaRPr lang="en-US" sz="22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3" name="Text 0"/>
          <p:cNvSpPr/>
          <p:nvPr/>
        </p:nvSpPr>
        <p:spPr>
          <a:xfrm>
            <a:off x="640064" y="1371600"/>
            <a:ext cx="10911567" cy="2377440"/>
          </a:xfrm>
          <a:prstGeom prst="rect">
            <a:avLst/>
          </a:prstGeom>
          <a:noFill/>
          <a:ln/>
        </p:spPr>
        <p:txBody>
          <a:bodyPr wrap="square" lIns="0" tIns="0" rIns="0" bIns="0" rtlCol="0" anchor="ctr"/>
          <a:lstStyle/>
          <a:p>
            <a:pPr indent="0" marL="0">
              <a:lnSpc>
                <a:spcPts val="5400"/>
              </a:lnSpc>
              <a:buNone/>
            </a:pPr>
            <a:r>
              <a:rPr lang="en-US" sz="5400" dirty="0" cap="all">
                <a:solidFill>
                  <a:srgbClr val="53E6E5"/>
                </a:solidFill>
                <a:latin typeface="Archivo Black" pitchFamily="34" charset="0"/>
                <a:ea typeface="Archivo Black" pitchFamily="34" charset="-122"/>
                <a:cs typeface="Archivo Black" pitchFamily="34" charset="-120"/>
              </a:rPr>
              <a:t>Nightlife is culture</a:t>
            </a:r>
            <a:endParaRPr lang="en-US" sz="5400" dirty="0"/>
          </a:p>
        </p:txBody>
      </p:sp>
      <p:sp>
        <p:nvSpPr>
          <p:cNvPr id="4" name="Shape 1"/>
          <p:cNvSpPr/>
          <p:nvPr/>
        </p:nvSpPr>
        <p:spPr>
          <a:xfrm>
            <a:off x="640064" y="3977640"/>
            <a:ext cx="2011680" cy="54864"/>
          </a:xfrm>
          <a:prstGeom prst="rect">
            <a:avLst/>
          </a:prstGeom>
          <a:solidFill>
            <a:srgbClr val="53E6E5"/>
          </a:solidFill>
          <a:ln/>
        </p:spPr>
      </p:sp>
      <p:sp>
        <p:nvSpPr>
          <p:cNvPr id="5" name="Text 2"/>
          <p:cNvSpPr/>
          <p:nvPr/>
        </p:nvSpPr>
        <p:spPr>
          <a:xfrm>
            <a:off x="640064" y="4206240"/>
            <a:ext cx="8511022" cy="1463040"/>
          </a:xfrm>
          <a:prstGeom prst="rect">
            <a:avLst/>
          </a:prstGeom>
          <a:noFill/>
          <a:ln/>
        </p:spPr>
        <p:txBody>
          <a:bodyPr wrap="square" lIns="0" tIns="0" rIns="0" bIns="0" rtlCol="0" anchor="ctr"/>
          <a:lstStyle/>
          <a:p>
            <a:pPr indent="0" marL="0">
              <a:lnSpc>
                <a:spcPts val="3000"/>
              </a:lnSpc>
              <a:buNone/>
            </a:pPr>
            <a:r>
              <a:rPr lang="en-US" sz="2200" b="1" dirty="0">
                <a:solidFill>
                  <a:srgbClr val="FFFFFF"/>
                </a:solidFill>
                <a:latin typeface="Archivo" pitchFamily="34" charset="0"/>
                <a:ea typeface="Archivo" pitchFamily="34" charset="-122"/>
                <a:cs typeface="Archivo" pitchFamily="34" charset="-120"/>
              </a:rPr>
              <a:t>The gathering places for collective joy are also talent incubators, knowledge banks and cultural value generators. Nightlife is a precious asset to British creativity and global reputation.</a:t>
            </a:r>
            <a:endParaRPr lang="en-US" sz="22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03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How the night becomes a dynamic place</a:t>
            </a:r>
            <a:endParaRPr lang="en-US" sz="4000" dirty="0"/>
          </a:p>
        </p:txBody>
      </p:sp>
      <p:sp>
        <p:nvSpPr>
          <p:cNvPr id="4" name="Shape 1"/>
          <p:cNvSpPr/>
          <p:nvPr/>
        </p:nvSpPr>
        <p:spPr>
          <a:xfrm>
            <a:off x="640064" y="3291840"/>
            <a:ext cx="3466501" cy="2423183"/>
          </a:xfrm>
          <a:prstGeom prst="rect">
            <a:avLst/>
          </a:prstGeom>
          <a:solidFill>
            <a:srgbClr val="53E6E5"/>
          </a:solidFill>
          <a:ln/>
        </p:spPr>
      </p:sp>
      <p:sp>
        <p:nvSpPr>
          <p:cNvPr id="5" name="Text 2"/>
          <p:cNvSpPr/>
          <p:nvPr/>
        </p:nvSpPr>
        <p:spPr>
          <a:xfrm>
            <a:off x="694928" y="3429000"/>
            <a:ext cx="3356773" cy="2148863"/>
          </a:xfrm>
          <a:prstGeom prst="rect">
            <a:avLst/>
          </a:prstGeom>
          <a:noFill/>
          <a:ln/>
        </p:spPr>
        <p:txBody>
          <a:bodyPr wrap="square" lIns="0" tIns="0" rIns="0" bIns="0" rtlCol="0" anchor="ctr"/>
          <a:lstStyle/>
          <a:p>
            <a:pPr algn="ctr" indent="0" marL="0">
              <a:buNone/>
            </a:pPr>
            <a:r>
              <a:rPr lang="en-US" sz="1800" b="1" spc="200" kern="0" dirty="0" cap="all">
                <a:solidFill>
                  <a:srgbClr val="0D0D0D"/>
                </a:solidFill>
                <a:latin typeface="Archivo" pitchFamily="34" charset="0"/>
                <a:ea typeface="Archivo" pitchFamily="34" charset="-122"/>
                <a:cs typeface="Archivo" pitchFamily="34" charset="-120"/>
              </a:rPr>
              <a:t>People</a:t>
            </a:r>
            <a:endParaRPr lang="en-US" sz="1800" dirty="0"/>
          </a:p>
        </p:txBody>
      </p:sp>
      <p:sp>
        <p:nvSpPr>
          <p:cNvPr id="6" name="Text 3"/>
          <p:cNvSpPr/>
          <p:nvPr/>
        </p:nvSpPr>
        <p:spPr>
          <a:xfrm>
            <a:off x="4106565" y="4320551"/>
            <a:ext cx="256032"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7" name="Shape 4"/>
          <p:cNvSpPr/>
          <p:nvPr/>
        </p:nvSpPr>
        <p:spPr>
          <a:xfrm>
            <a:off x="4362597" y="3291840"/>
            <a:ext cx="3466501" cy="2423183"/>
          </a:xfrm>
          <a:prstGeom prst="rect">
            <a:avLst/>
          </a:prstGeom>
          <a:solidFill>
            <a:srgbClr val="FFDE6B"/>
          </a:solidFill>
          <a:ln/>
        </p:spPr>
      </p:sp>
      <p:sp>
        <p:nvSpPr>
          <p:cNvPr id="8" name="Text 5"/>
          <p:cNvSpPr/>
          <p:nvPr/>
        </p:nvSpPr>
        <p:spPr>
          <a:xfrm>
            <a:off x="4417461" y="3429000"/>
            <a:ext cx="3356773" cy="2148863"/>
          </a:xfrm>
          <a:prstGeom prst="rect">
            <a:avLst/>
          </a:prstGeom>
          <a:noFill/>
          <a:ln/>
        </p:spPr>
        <p:txBody>
          <a:bodyPr wrap="square" lIns="0" tIns="0" rIns="0" bIns="0" rtlCol="0" anchor="ctr"/>
          <a:lstStyle/>
          <a:p>
            <a:pPr algn="ctr" indent="0" marL="0">
              <a:buNone/>
            </a:pPr>
            <a:r>
              <a:rPr lang="en-US" sz="1800" b="1" spc="200" kern="0" dirty="0" cap="all">
                <a:solidFill>
                  <a:srgbClr val="0D0D0D"/>
                </a:solidFill>
                <a:latin typeface="Archivo" pitchFamily="34" charset="0"/>
                <a:ea typeface="Archivo" pitchFamily="34" charset="-122"/>
                <a:cs typeface="Archivo" pitchFamily="34" charset="-120"/>
              </a:rPr>
              <a:t>Scenes + spaces</a:t>
            </a:r>
            <a:endParaRPr lang="en-US" sz="1800" dirty="0"/>
          </a:p>
        </p:txBody>
      </p:sp>
      <p:sp>
        <p:nvSpPr>
          <p:cNvPr id="9" name="Text 6"/>
          <p:cNvSpPr/>
          <p:nvPr/>
        </p:nvSpPr>
        <p:spPr>
          <a:xfrm>
            <a:off x="7829098" y="4320551"/>
            <a:ext cx="256032"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10" name="Shape 7"/>
          <p:cNvSpPr/>
          <p:nvPr/>
        </p:nvSpPr>
        <p:spPr>
          <a:xfrm>
            <a:off x="8085130" y="3291840"/>
            <a:ext cx="3466501" cy="2423183"/>
          </a:xfrm>
          <a:prstGeom prst="rect">
            <a:avLst/>
          </a:prstGeom>
          <a:solidFill>
            <a:srgbClr val="ED77C2"/>
          </a:solidFill>
          <a:ln/>
        </p:spPr>
      </p:sp>
      <p:sp>
        <p:nvSpPr>
          <p:cNvPr id="11" name="Text 8"/>
          <p:cNvSpPr/>
          <p:nvPr/>
        </p:nvSpPr>
        <p:spPr>
          <a:xfrm>
            <a:off x="8139994" y="3429000"/>
            <a:ext cx="3356773" cy="2148863"/>
          </a:xfrm>
          <a:prstGeom prst="rect">
            <a:avLst/>
          </a:prstGeom>
          <a:noFill/>
          <a:ln/>
        </p:spPr>
        <p:txBody>
          <a:bodyPr wrap="square" lIns="0" tIns="0" rIns="0" bIns="0" rtlCol="0" anchor="ctr"/>
          <a:lstStyle/>
          <a:p>
            <a:pPr algn="ctr" indent="0" marL="0">
              <a:buNone/>
            </a:pPr>
            <a:r>
              <a:rPr lang="en-US" sz="1800" b="1" spc="200" kern="0" dirty="0" cap="all">
                <a:solidFill>
                  <a:srgbClr val="0D0D0D"/>
                </a:solidFill>
                <a:latin typeface="Archivo" pitchFamily="34" charset="0"/>
                <a:ea typeface="Archivo" pitchFamily="34" charset="-122"/>
                <a:cs typeface="Archivo" pitchFamily="34" charset="-120"/>
              </a:rPr>
              <a:t>Dynamic places</a:t>
            </a:r>
            <a:endParaRPr lang="en-US" sz="1800" dirty="0"/>
          </a:p>
        </p:txBody>
      </p:sp>
      <p:pic>
        <p:nvPicPr>
          <p:cNvPr id="12"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13" name="Text 9"/>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04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FF"/>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4200"/>
              </a:lnSpc>
              <a:buNone/>
            </a:pPr>
            <a:r>
              <a:rPr lang="en-US" sz="4000" dirty="0" cap="all">
                <a:solidFill>
                  <a:srgbClr val="FFFFFF"/>
                </a:solidFill>
                <a:latin typeface="Archivo Black" pitchFamily="34" charset="0"/>
                <a:ea typeface="Archivo Black" pitchFamily="34" charset="-122"/>
                <a:cs typeface="Archivo Black" pitchFamily="34" charset="-120"/>
              </a:rPr>
              <a:t>The system sees nightlife too late</a:t>
            </a:r>
            <a:endParaRPr lang="en-US" sz="4000" dirty="0"/>
          </a:p>
        </p:txBody>
      </p:sp>
      <p:sp>
        <p:nvSpPr>
          <p:cNvPr id="4" name="Shape 1"/>
          <p:cNvSpPr/>
          <p:nvPr/>
        </p:nvSpPr>
        <p:spPr>
          <a:xfrm>
            <a:off x="640064" y="2880360"/>
            <a:ext cx="2011680" cy="54864"/>
          </a:xfrm>
          <a:prstGeom prst="rect">
            <a:avLst/>
          </a:prstGeom>
          <a:solidFill>
            <a:srgbClr val="53E6E5"/>
          </a:solidFill>
          <a:ln/>
        </p:spPr>
      </p:sp>
      <p:sp>
        <p:nvSpPr>
          <p:cNvPr id="5" name="Text 2"/>
          <p:cNvSpPr/>
          <p:nvPr/>
        </p:nvSpPr>
        <p:spPr>
          <a:xfrm>
            <a:off x="640064" y="3154680"/>
            <a:ext cx="8729254" cy="2011680"/>
          </a:xfrm>
          <a:prstGeom prst="rect">
            <a:avLst/>
          </a:prstGeom>
          <a:noFill/>
          <a:ln/>
        </p:spPr>
        <p:txBody>
          <a:bodyPr wrap="square" lIns="0" tIns="0" rIns="0" bIns="0" rtlCol="0" anchor="ctr"/>
          <a:lstStyle/>
          <a:p>
            <a:pPr indent="0" marL="0">
              <a:lnSpc>
                <a:spcPts val="3000"/>
              </a:lnSpc>
              <a:buNone/>
            </a:pPr>
            <a:r>
              <a:rPr lang="en-US" sz="2000" dirty="0">
                <a:solidFill>
                  <a:srgbClr val="FFFFFF"/>
                </a:solidFill>
                <a:latin typeface="Inter" pitchFamily="34" charset="0"/>
                <a:ea typeface="Inter" pitchFamily="34" charset="-122"/>
                <a:cs typeface="Inter" pitchFamily="34" charset="-120"/>
              </a:rPr>
              <a:t>Formal systems recognise the artist, destination, economic return or crisis. The relationships, gathering places and cultural labour that made them possible are harder to see and support.</a:t>
            </a:r>
            <a:endParaRPr lang="en-US" sz="20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05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The connective infrastructure is thin</a:t>
            </a:r>
            <a:endParaRPr lang="en-US" sz="4000" dirty="0"/>
          </a:p>
        </p:txBody>
      </p:sp>
      <p:sp>
        <p:nvSpPr>
          <p:cNvPr id="4" name="Shape 1"/>
          <p:cNvSpPr/>
          <p:nvPr/>
        </p:nvSpPr>
        <p:spPr>
          <a:xfrm>
            <a:off x="640064" y="2057400"/>
            <a:ext cx="2011680" cy="54864"/>
          </a:xfrm>
          <a:prstGeom prst="rect">
            <a:avLst/>
          </a:prstGeom>
          <a:solidFill>
            <a:srgbClr val="0000FF"/>
          </a:solidFill>
          <a:ln/>
        </p:spPr>
      </p:sp>
      <p:sp>
        <p:nvSpPr>
          <p:cNvPr id="5" name="Text 2"/>
          <p:cNvSpPr/>
          <p:nvPr/>
        </p:nvSpPr>
        <p:spPr>
          <a:xfrm>
            <a:off x="640064" y="2286000"/>
            <a:ext cx="9383948" cy="3566183"/>
          </a:xfrm>
          <a:prstGeom prst="rect">
            <a:avLst/>
          </a:prstGeom>
          <a:noFill/>
          <a:ln/>
        </p:spPr>
        <p:txBody>
          <a:bodyPr wrap="square" lIns="0" tIns="0" rIns="0" bIns="0" rtlCol="0" anchor="t"/>
          <a:lstStyle/>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Local advocates keep rebuilding evidence and political backing from the beginning.</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Decision-makers see partial pictures of nightlife’s value.</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Funders and responsible investors struggle to find locally legitimate people and propositions.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Research, policy, advocacy and delivery remain too disconnected.</a:t>
            </a:r>
            <a:endParaRPr lang="en-US" sz="2000" dirty="0"/>
          </a:p>
        </p:txBody>
      </p:sp>
      <p:pic>
        <p:nvPicPr>
          <p:cNvPr id="6"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06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FF"/>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4200"/>
              </a:lnSpc>
              <a:buNone/>
            </a:pPr>
            <a:r>
              <a:rPr lang="en-US" sz="4000" dirty="0" cap="all">
                <a:solidFill>
                  <a:srgbClr val="FFFFFF"/>
                </a:solidFill>
                <a:latin typeface="Archivo Black" pitchFamily="34" charset="0"/>
                <a:ea typeface="Archivo Black" pitchFamily="34" charset="-122"/>
                <a:cs typeface="Archivo Black" pitchFamily="34" charset="-120"/>
              </a:rPr>
              <a:t>Nationally relevant infrastructure that increases hyperlocal power</a:t>
            </a:r>
            <a:endParaRPr lang="en-US" sz="4000" dirty="0"/>
          </a:p>
        </p:txBody>
      </p:sp>
      <p:sp>
        <p:nvSpPr>
          <p:cNvPr id="4" name="Shape 1"/>
          <p:cNvSpPr/>
          <p:nvPr/>
        </p:nvSpPr>
        <p:spPr>
          <a:xfrm>
            <a:off x="640064" y="2880360"/>
            <a:ext cx="2011680" cy="54864"/>
          </a:xfrm>
          <a:prstGeom prst="rect">
            <a:avLst/>
          </a:prstGeom>
          <a:solidFill>
            <a:srgbClr val="53E6E5"/>
          </a:solidFill>
          <a:ln/>
        </p:spPr>
      </p:sp>
      <p:sp>
        <p:nvSpPr>
          <p:cNvPr id="5" name="Text 2"/>
          <p:cNvSpPr/>
          <p:nvPr/>
        </p:nvSpPr>
        <p:spPr>
          <a:xfrm>
            <a:off x="640064" y="3154680"/>
            <a:ext cx="8729254" cy="2011680"/>
          </a:xfrm>
          <a:prstGeom prst="rect">
            <a:avLst/>
          </a:prstGeom>
          <a:noFill/>
          <a:ln/>
        </p:spPr>
        <p:txBody>
          <a:bodyPr wrap="square" lIns="0" tIns="0" rIns="0" bIns="0" rtlCol="0" anchor="ctr"/>
          <a:lstStyle/>
          <a:p>
            <a:pPr indent="0" marL="0">
              <a:lnSpc>
                <a:spcPts val="3000"/>
              </a:lnSpc>
              <a:buNone/>
            </a:pPr>
            <a:r>
              <a:rPr lang="en-US" sz="2000" dirty="0">
                <a:solidFill>
                  <a:srgbClr val="FFFFFF"/>
                </a:solidFill>
                <a:latin typeface="Inter" pitchFamily="34" charset="0"/>
                <a:ea typeface="Inter" pitchFamily="34" charset="-122"/>
                <a:cs typeface="Inter" pitchFamily="34" charset="-120"/>
              </a:rPr>
              <a:t>Build a shared way for local cultural knowledge to become credible evidence, stronger advocacy, practical policy routes and investable action — while preserving the agency and distinctiveness of place.</a:t>
            </a:r>
            <a:endParaRPr lang="en-US" sz="20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07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Meet Nightlife Culture</a:t>
            </a:r>
            <a:endParaRPr lang="en-US" sz="4000" dirty="0"/>
          </a:p>
        </p:txBody>
      </p:sp>
      <p:sp>
        <p:nvSpPr>
          <p:cNvPr id="4" name="Shape 1"/>
          <p:cNvSpPr/>
          <p:nvPr/>
        </p:nvSpPr>
        <p:spPr>
          <a:xfrm>
            <a:off x="640064" y="2880360"/>
            <a:ext cx="2011680" cy="54864"/>
          </a:xfrm>
          <a:prstGeom prst="rect">
            <a:avLst/>
          </a:prstGeom>
          <a:solidFill>
            <a:srgbClr val="0000FF"/>
          </a:solidFill>
          <a:ln/>
        </p:spPr>
      </p:sp>
      <p:sp>
        <p:nvSpPr>
          <p:cNvPr id="5" name="Text 2"/>
          <p:cNvSpPr/>
          <p:nvPr/>
        </p:nvSpPr>
        <p:spPr>
          <a:xfrm>
            <a:off x="640064" y="3154680"/>
            <a:ext cx="8729254" cy="2011680"/>
          </a:xfrm>
          <a:prstGeom prst="rect">
            <a:avLst/>
          </a:prstGeom>
          <a:noFill/>
          <a:ln/>
        </p:spPr>
        <p:txBody>
          <a:bodyPr wrap="square" lIns="0" tIns="0" rIns="0" bIns="0" rtlCol="0" anchor="ctr"/>
          <a:lstStyle/>
          <a:p>
            <a:pPr indent="0" marL="0">
              <a:lnSpc>
                <a:spcPts val="3000"/>
              </a:lnSpc>
              <a:buNone/>
            </a:pPr>
            <a:r>
              <a:rPr lang="en-US" sz="2000" dirty="0">
                <a:solidFill>
                  <a:srgbClr val="0D0D0D"/>
                </a:solidFill>
                <a:latin typeface="Inter" pitchFamily="34" charset="0"/>
                <a:ea typeface="Inter" pitchFamily="34" charset="-122"/>
                <a:cs typeface="Inter" pitchFamily="34" charset="-120"/>
              </a:rPr>
              <a:t>Nightlife Culture is a creative policy, research and design studio working across nightlife, music, culture, place and the systems that shape them.</a:t>
            </a:r>
            <a:endParaRPr lang="en-US" sz="2000" dirty="0"/>
          </a:p>
        </p:txBody>
      </p:sp>
      <p:sp>
        <p:nvSpPr>
          <p:cNvPr id="6" name="Text 3"/>
          <p:cNvSpPr/>
          <p:nvPr/>
        </p:nvSpPr>
        <p:spPr>
          <a:xfrm>
            <a:off x="640064" y="4892040"/>
            <a:ext cx="8729254" cy="1005840"/>
          </a:xfrm>
          <a:prstGeom prst="rect">
            <a:avLst/>
          </a:prstGeom>
          <a:noFill/>
          <a:ln/>
        </p:spPr>
        <p:txBody>
          <a:bodyPr wrap="square" lIns="0" tIns="0" rIns="0" bIns="0" rtlCol="0" anchor="ctr"/>
          <a:lstStyle/>
          <a:p>
            <a:pPr indent="0" marL="0">
              <a:lnSpc>
                <a:spcPts val="2600"/>
              </a:lnSpc>
              <a:buNone/>
            </a:pPr>
            <a:r>
              <a:rPr lang="en-US" sz="1800" dirty="0">
                <a:solidFill>
                  <a:srgbClr val="2D2D2D"/>
                </a:solidFill>
                <a:latin typeface="Inter" pitchFamily="34" charset="0"/>
                <a:ea typeface="Inter" pitchFamily="34" charset="-122"/>
                <a:cs typeface="Inter" pitchFamily="34" charset="-120"/>
              </a:rPr>
              <a:t>A creative policy studio for nightlife, music, culture and cities. Built for people who know that collective joy deserves serious evidence, policy design and investment.</a:t>
            </a:r>
            <a:endParaRPr lang="en-US" sz="1800" dirty="0"/>
          </a:p>
        </p:txBody>
      </p:sp>
      <p:pic>
        <p:nvPicPr>
          <p:cNvPr id="7"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8" name="Text 4"/>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08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3600"/>
              </a:lnSpc>
              <a:buNone/>
            </a:pPr>
            <a:r>
              <a:rPr lang="en-US" sz="3200" dirty="0" cap="all">
                <a:solidFill>
                  <a:srgbClr val="53E6E5"/>
                </a:solidFill>
                <a:latin typeface="Archivo Black" pitchFamily="34" charset="0"/>
                <a:ea typeface="Archivo Black" pitchFamily="34" charset="-122"/>
                <a:cs typeface="Archivo Black" pitchFamily="34" charset="-120"/>
              </a:rPr>
              <a:t>Enough rigour for institutions. Enough cultural truth for the people who make the night.</a:t>
            </a:r>
            <a:endParaRPr lang="en-US" sz="3200" dirty="0"/>
          </a:p>
        </p:txBody>
      </p:sp>
      <p:sp>
        <p:nvSpPr>
          <p:cNvPr id="4" name="Shape 1"/>
          <p:cNvSpPr/>
          <p:nvPr/>
        </p:nvSpPr>
        <p:spPr>
          <a:xfrm>
            <a:off x="640064" y="2377440"/>
            <a:ext cx="2011680" cy="54864"/>
          </a:xfrm>
          <a:prstGeom prst="rect">
            <a:avLst/>
          </a:prstGeom>
          <a:solidFill>
            <a:srgbClr val="53E6E5"/>
          </a:solidFill>
          <a:ln/>
        </p:spPr>
      </p:sp>
      <p:sp>
        <p:nvSpPr>
          <p:cNvPr id="5" name="Text 2"/>
          <p:cNvSpPr/>
          <p:nvPr/>
        </p:nvSpPr>
        <p:spPr>
          <a:xfrm>
            <a:off x="640064" y="2606040"/>
            <a:ext cx="9383948" cy="3246143"/>
          </a:xfrm>
          <a:prstGeom prst="rect">
            <a:avLst/>
          </a:prstGeom>
          <a:noFill/>
          <a:ln/>
        </p:spPr>
        <p:txBody>
          <a:bodyPr wrap="square" lIns="0" tIns="0" rIns="0" bIns="0" rtlCol="0" anchor="t"/>
          <a:lstStyle/>
          <a:p>
            <a:pPr marL="355600" indent="-355600">
              <a:lnSpc>
                <a:spcPts val="2700"/>
              </a:lnSpc>
              <a:spcAft>
                <a:spcPts val="1200"/>
              </a:spcAft>
              <a:buSzPct val="100000"/>
              <a:buChar char="—"/>
            </a:pPr>
            <a:r>
              <a:rPr lang="en-US" sz="2000" dirty="0">
                <a:solidFill>
                  <a:srgbClr val="FFFFFF"/>
                </a:solidFill>
                <a:latin typeface="Inter" pitchFamily="34" charset="0"/>
                <a:ea typeface="Inter" pitchFamily="34" charset="-122"/>
                <a:cs typeface="Inter" pitchFamily="34" charset="-120"/>
              </a:rPr>
              <a:t>Lived experience + sector knowledge</a:t>
            </a:r>
            <a:endParaRPr lang="en-US" sz="2000" dirty="0"/>
          </a:p>
          <a:p>
            <a:pPr marL="355600" indent="-355600">
              <a:lnSpc>
                <a:spcPts val="2700"/>
              </a:lnSpc>
              <a:spcAft>
                <a:spcPts val="1200"/>
              </a:spcAft>
              <a:buSzPct val="100000"/>
              <a:buChar char="—"/>
            </a:pPr>
            <a:r>
              <a:rPr lang="en-US" sz="2000" dirty="0">
                <a:solidFill>
                  <a:srgbClr val="FFFFFF"/>
                </a:solidFill>
                <a:latin typeface="Inter" pitchFamily="34" charset="0"/>
                <a:ea typeface="Inter" pitchFamily="34" charset="-122"/>
                <a:cs typeface="Inter" pitchFamily="34" charset="-120"/>
              </a:rPr>
              <a:t>Research + data</a:t>
            </a:r>
            <a:endParaRPr lang="en-US" sz="2000" dirty="0"/>
          </a:p>
          <a:p>
            <a:pPr marL="355600" indent="-355600">
              <a:lnSpc>
                <a:spcPts val="2700"/>
              </a:lnSpc>
              <a:spcAft>
                <a:spcPts val="1200"/>
              </a:spcAft>
              <a:buSzPct val="100000"/>
              <a:buChar char="—"/>
            </a:pPr>
            <a:r>
              <a:rPr lang="en-US" sz="2000" dirty="0">
                <a:solidFill>
                  <a:srgbClr val="FFFFFF"/>
                </a:solidFill>
                <a:latin typeface="Inter" pitchFamily="34" charset="0"/>
                <a:ea typeface="Inter" pitchFamily="34" charset="-122"/>
                <a:cs typeface="Inter" pitchFamily="34" charset="-120"/>
              </a:rPr>
              <a:t>Policy + funding</a:t>
            </a:r>
            <a:endParaRPr lang="en-US" sz="2000" dirty="0"/>
          </a:p>
          <a:p>
            <a:pPr marL="355600" indent="-355600">
              <a:lnSpc>
                <a:spcPts val="2700"/>
              </a:lnSpc>
              <a:spcAft>
                <a:spcPts val="1200"/>
              </a:spcAft>
              <a:buSzPct val="100000"/>
              <a:buChar char="—"/>
            </a:pPr>
            <a:r>
              <a:rPr lang="en-US" sz="2000" dirty="0">
                <a:solidFill>
                  <a:srgbClr val="FFFFFF"/>
                </a:solidFill>
                <a:latin typeface="Inter" pitchFamily="34" charset="0"/>
                <a:ea typeface="Inter" pitchFamily="34" charset="-122"/>
                <a:cs typeface="Inter" pitchFamily="34" charset="-120"/>
              </a:rPr>
              <a:t>Creative practice + delivery</a:t>
            </a:r>
            <a:endParaRPr lang="en-US" sz="20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09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The Nightlife Culture creative policy design method</a:t>
            </a:r>
            <a:endParaRPr lang="en-US" sz="4000" dirty="0"/>
          </a:p>
        </p:txBody>
      </p:sp>
      <p:sp>
        <p:nvSpPr>
          <p:cNvPr id="4" name="Shape 1"/>
          <p:cNvSpPr/>
          <p:nvPr/>
        </p:nvSpPr>
        <p:spPr>
          <a:xfrm>
            <a:off x="640064" y="3291840"/>
            <a:ext cx="1449067" cy="2423183"/>
          </a:xfrm>
          <a:prstGeom prst="rect">
            <a:avLst/>
          </a:prstGeom>
          <a:solidFill>
            <a:srgbClr val="53E6E5"/>
          </a:solidFill>
          <a:ln/>
        </p:spPr>
      </p:sp>
      <p:sp>
        <p:nvSpPr>
          <p:cNvPr id="5" name="Text 2"/>
          <p:cNvSpPr/>
          <p:nvPr/>
        </p:nvSpPr>
        <p:spPr>
          <a:xfrm>
            <a:off x="694928"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Listen</a:t>
            </a:r>
            <a:endParaRPr lang="en-US" sz="1400" dirty="0"/>
          </a:p>
        </p:txBody>
      </p:sp>
      <p:sp>
        <p:nvSpPr>
          <p:cNvPr id="6" name="Text 3"/>
          <p:cNvSpPr/>
          <p:nvPr/>
        </p:nvSpPr>
        <p:spPr>
          <a:xfrm>
            <a:off x="2089131" y="4320551"/>
            <a:ext cx="128016"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7" name="Shape 4"/>
          <p:cNvSpPr/>
          <p:nvPr/>
        </p:nvSpPr>
        <p:spPr>
          <a:xfrm>
            <a:off x="2217147" y="3291840"/>
            <a:ext cx="1449067" cy="2423183"/>
          </a:xfrm>
          <a:prstGeom prst="rect">
            <a:avLst/>
          </a:prstGeom>
          <a:solidFill>
            <a:srgbClr val="FFDE6B"/>
          </a:solidFill>
          <a:ln/>
        </p:spPr>
      </p:sp>
      <p:sp>
        <p:nvSpPr>
          <p:cNvPr id="8" name="Text 5"/>
          <p:cNvSpPr/>
          <p:nvPr/>
        </p:nvSpPr>
        <p:spPr>
          <a:xfrm>
            <a:off x="2272011"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Map</a:t>
            </a:r>
            <a:endParaRPr lang="en-US" sz="1400" dirty="0"/>
          </a:p>
        </p:txBody>
      </p:sp>
      <p:sp>
        <p:nvSpPr>
          <p:cNvPr id="9" name="Text 6"/>
          <p:cNvSpPr/>
          <p:nvPr/>
        </p:nvSpPr>
        <p:spPr>
          <a:xfrm>
            <a:off x="3666215" y="4320551"/>
            <a:ext cx="128016"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10" name="Shape 7"/>
          <p:cNvSpPr/>
          <p:nvPr/>
        </p:nvSpPr>
        <p:spPr>
          <a:xfrm>
            <a:off x="3794231" y="3291840"/>
            <a:ext cx="1449067" cy="2423183"/>
          </a:xfrm>
          <a:prstGeom prst="rect">
            <a:avLst/>
          </a:prstGeom>
          <a:solidFill>
            <a:srgbClr val="ED77C2"/>
          </a:solidFill>
          <a:ln/>
        </p:spPr>
      </p:sp>
      <p:sp>
        <p:nvSpPr>
          <p:cNvPr id="11" name="Text 8"/>
          <p:cNvSpPr/>
          <p:nvPr/>
        </p:nvSpPr>
        <p:spPr>
          <a:xfrm>
            <a:off x="3849095"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Ideate</a:t>
            </a:r>
            <a:endParaRPr lang="en-US" sz="1400" dirty="0"/>
          </a:p>
        </p:txBody>
      </p:sp>
      <p:sp>
        <p:nvSpPr>
          <p:cNvPr id="12" name="Text 9"/>
          <p:cNvSpPr/>
          <p:nvPr/>
        </p:nvSpPr>
        <p:spPr>
          <a:xfrm>
            <a:off x="5243298" y="4320551"/>
            <a:ext cx="128016"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13" name="Shape 10"/>
          <p:cNvSpPr/>
          <p:nvPr/>
        </p:nvSpPr>
        <p:spPr>
          <a:xfrm>
            <a:off x="5371314" y="3291840"/>
            <a:ext cx="1449067" cy="2423183"/>
          </a:xfrm>
          <a:prstGeom prst="rect">
            <a:avLst/>
          </a:prstGeom>
          <a:solidFill>
            <a:srgbClr val="B98CFF"/>
          </a:solidFill>
          <a:ln/>
        </p:spPr>
      </p:sp>
      <p:sp>
        <p:nvSpPr>
          <p:cNvPr id="14" name="Text 11"/>
          <p:cNvSpPr/>
          <p:nvPr/>
        </p:nvSpPr>
        <p:spPr>
          <a:xfrm>
            <a:off x="5426178"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Prototype</a:t>
            </a:r>
            <a:endParaRPr lang="en-US" sz="1400" dirty="0"/>
          </a:p>
        </p:txBody>
      </p:sp>
      <p:sp>
        <p:nvSpPr>
          <p:cNvPr id="15" name="Text 12"/>
          <p:cNvSpPr/>
          <p:nvPr/>
        </p:nvSpPr>
        <p:spPr>
          <a:xfrm>
            <a:off x="6820381" y="4320551"/>
            <a:ext cx="128016"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16" name="Shape 13"/>
          <p:cNvSpPr/>
          <p:nvPr/>
        </p:nvSpPr>
        <p:spPr>
          <a:xfrm>
            <a:off x="6948397" y="3291840"/>
            <a:ext cx="1449067" cy="2423183"/>
          </a:xfrm>
          <a:prstGeom prst="rect">
            <a:avLst/>
          </a:prstGeom>
          <a:solidFill>
            <a:srgbClr val="FD7B53"/>
          </a:solidFill>
          <a:ln/>
        </p:spPr>
      </p:sp>
      <p:sp>
        <p:nvSpPr>
          <p:cNvPr id="17" name="Text 14"/>
          <p:cNvSpPr/>
          <p:nvPr/>
        </p:nvSpPr>
        <p:spPr>
          <a:xfrm>
            <a:off x="7003261"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Test</a:t>
            </a:r>
            <a:endParaRPr lang="en-US" sz="1400" dirty="0"/>
          </a:p>
        </p:txBody>
      </p:sp>
      <p:sp>
        <p:nvSpPr>
          <p:cNvPr id="18" name="Text 15"/>
          <p:cNvSpPr/>
          <p:nvPr/>
        </p:nvSpPr>
        <p:spPr>
          <a:xfrm>
            <a:off x="8397465" y="4320551"/>
            <a:ext cx="128016"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19" name="Shape 16"/>
          <p:cNvSpPr/>
          <p:nvPr/>
        </p:nvSpPr>
        <p:spPr>
          <a:xfrm>
            <a:off x="8525481" y="3291840"/>
            <a:ext cx="1449067" cy="2423183"/>
          </a:xfrm>
          <a:prstGeom prst="rect">
            <a:avLst/>
          </a:prstGeom>
          <a:solidFill>
            <a:srgbClr val="53E6E5"/>
          </a:solidFill>
          <a:ln/>
        </p:spPr>
      </p:sp>
      <p:sp>
        <p:nvSpPr>
          <p:cNvPr id="20" name="Text 17"/>
          <p:cNvSpPr/>
          <p:nvPr/>
        </p:nvSpPr>
        <p:spPr>
          <a:xfrm>
            <a:off x="8580345"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Refine</a:t>
            </a:r>
            <a:endParaRPr lang="en-US" sz="1400" dirty="0"/>
          </a:p>
        </p:txBody>
      </p:sp>
      <p:sp>
        <p:nvSpPr>
          <p:cNvPr id="21" name="Text 18"/>
          <p:cNvSpPr/>
          <p:nvPr/>
        </p:nvSpPr>
        <p:spPr>
          <a:xfrm>
            <a:off x="9974548" y="4320551"/>
            <a:ext cx="128016" cy="365760"/>
          </a:xfrm>
          <a:prstGeom prst="rect">
            <a:avLst/>
          </a:prstGeom>
          <a:noFill/>
          <a:ln/>
        </p:spPr>
        <p:txBody>
          <a:bodyPr wrap="square" lIns="0" tIns="0" rIns="0" bIns="0" rtlCol="0" anchor="ctr"/>
          <a:lstStyle/>
          <a:p>
            <a:pPr algn="ctr" indent="0" marL="0">
              <a:buNone/>
            </a:pPr>
            <a:r>
              <a:rPr lang="en-US" sz="1600" dirty="0">
                <a:solidFill>
                  <a:srgbClr val="2D2D2D"/>
                </a:solidFill>
                <a:latin typeface="Inter" pitchFamily="34" charset="0"/>
                <a:ea typeface="Inter" pitchFamily="34" charset="-122"/>
                <a:cs typeface="Inter" pitchFamily="34" charset="-120"/>
              </a:rPr>
              <a:t>→</a:t>
            </a:r>
            <a:endParaRPr lang="en-US" sz="1600" dirty="0"/>
          </a:p>
        </p:txBody>
      </p:sp>
      <p:sp>
        <p:nvSpPr>
          <p:cNvPr id="22" name="Shape 19"/>
          <p:cNvSpPr/>
          <p:nvPr/>
        </p:nvSpPr>
        <p:spPr>
          <a:xfrm>
            <a:off x="10102564" y="3291840"/>
            <a:ext cx="1449067" cy="2423183"/>
          </a:xfrm>
          <a:prstGeom prst="rect">
            <a:avLst/>
          </a:prstGeom>
          <a:solidFill>
            <a:srgbClr val="FFDE6B"/>
          </a:solidFill>
          <a:ln/>
        </p:spPr>
      </p:sp>
      <p:sp>
        <p:nvSpPr>
          <p:cNvPr id="23" name="Text 20"/>
          <p:cNvSpPr/>
          <p:nvPr/>
        </p:nvSpPr>
        <p:spPr>
          <a:xfrm>
            <a:off x="10157428" y="3429000"/>
            <a:ext cx="1339339" cy="2148863"/>
          </a:xfrm>
          <a:prstGeom prst="rect">
            <a:avLst/>
          </a:prstGeom>
          <a:noFill/>
          <a:ln/>
        </p:spPr>
        <p:txBody>
          <a:bodyPr wrap="square" lIns="0" tIns="0" rIns="0" bIns="0" rtlCol="0" anchor="ctr"/>
          <a:lstStyle/>
          <a:p>
            <a:pPr algn="ctr" indent="0" marL="0">
              <a:buNone/>
            </a:pPr>
            <a:r>
              <a:rPr lang="en-US" sz="1400" b="1" spc="25" kern="0" dirty="0" cap="all">
                <a:solidFill>
                  <a:srgbClr val="0D0D0D"/>
                </a:solidFill>
                <a:latin typeface="Archivo" pitchFamily="34" charset="0"/>
                <a:ea typeface="Archivo" pitchFamily="34" charset="-122"/>
                <a:cs typeface="Archivo" pitchFamily="34" charset="-120"/>
              </a:rPr>
              <a:t>Expand</a:t>
            </a:r>
            <a:endParaRPr lang="en-US" sz="1400" dirty="0"/>
          </a:p>
        </p:txBody>
      </p:sp>
      <p:pic>
        <p:nvPicPr>
          <p:cNvPr id="24"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25" name="Text 21"/>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Different partners. Shared purpose.</a:t>
            </a:r>
            <a:endParaRPr lang="en-US" sz="4000" dirty="0"/>
          </a:p>
        </p:txBody>
      </p:sp>
      <p:sp>
        <p:nvSpPr>
          <p:cNvPr id="4" name="Shape 1"/>
          <p:cNvSpPr/>
          <p:nvPr/>
        </p:nvSpPr>
        <p:spPr>
          <a:xfrm>
            <a:off x="640064" y="2057400"/>
            <a:ext cx="2011680" cy="54864"/>
          </a:xfrm>
          <a:prstGeom prst="rect">
            <a:avLst/>
          </a:prstGeom>
          <a:solidFill>
            <a:srgbClr val="0000FF"/>
          </a:solidFill>
          <a:ln/>
        </p:spPr>
      </p:sp>
      <p:sp>
        <p:nvSpPr>
          <p:cNvPr id="5" name="Text 2"/>
          <p:cNvSpPr/>
          <p:nvPr/>
        </p:nvSpPr>
        <p:spPr>
          <a:xfrm>
            <a:off x="640064" y="2286000"/>
            <a:ext cx="9383948" cy="3566183"/>
          </a:xfrm>
          <a:prstGeom prst="rect">
            <a:avLst/>
          </a:prstGeom>
          <a:noFill/>
          <a:ln/>
        </p:spPr>
        <p:txBody>
          <a:bodyPr wrap="square" lIns="0" tIns="0" rIns="0" bIns="0" rtlCol="0" anchor="t"/>
          <a:lstStyle/>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Places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Infrastructure partners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Funders and investors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Researchers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Sector bodies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Scenes and local advocates</a:t>
            </a:r>
            <a:endParaRPr lang="en-US" sz="2000" dirty="0"/>
          </a:p>
        </p:txBody>
      </p:sp>
      <p:pic>
        <p:nvPicPr>
          <p:cNvPr id="6"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FF"/>
        </a:solidFill>
      </p:bgPr>
    </p:bg>
    <p:spTree>
      <p:nvGrpSpPr>
        <p:cNvPr id="1" name=""/>
        <p:cNvGrpSpPr/>
        <p:nvPr/>
      </p:nvGrpSpPr>
      <p:grpSpPr>
        <a:xfrm>
          <a:off x="0" y="0"/>
          <a:ext cx="0" cy="0"/>
          <a:chOff x="0" y="0"/>
          <a:chExt cx="0" cy="0"/>
        </a:xfrm>
      </p:grpSpPr>
      <p:sp>
        <p:nvSpPr>
          <p:cNvPr id="3" name="Text 0"/>
          <p:cNvSpPr/>
          <p:nvPr/>
        </p:nvSpPr>
        <p:spPr>
          <a:xfrm>
            <a:off x="640064" y="1371600"/>
            <a:ext cx="10911567" cy="2377440"/>
          </a:xfrm>
          <a:prstGeom prst="rect">
            <a:avLst/>
          </a:prstGeom>
          <a:noFill/>
          <a:ln/>
        </p:spPr>
        <p:txBody>
          <a:bodyPr wrap="square" lIns="0" tIns="0" rIns="0" bIns="0" rtlCol="0" anchor="ctr"/>
          <a:lstStyle/>
          <a:p>
            <a:pPr indent="0" marL="0">
              <a:lnSpc>
                <a:spcPts val="5400"/>
              </a:lnSpc>
              <a:buNone/>
            </a:pPr>
            <a:r>
              <a:rPr lang="en-US" sz="5400" dirty="0" cap="all">
                <a:solidFill>
                  <a:srgbClr val="FFFFFF"/>
                </a:solidFill>
                <a:latin typeface="Archivo Black" pitchFamily="34" charset="0"/>
                <a:ea typeface="Archivo Black" pitchFamily="34" charset="-122"/>
                <a:cs typeface="Archivo Black" pitchFamily="34" charset="-120"/>
              </a:rPr>
              <a:t>Why Carly</a:t>
            </a:r>
            <a:endParaRPr lang="en-US" sz="5400" dirty="0"/>
          </a:p>
        </p:txBody>
      </p:sp>
      <p:sp>
        <p:nvSpPr>
          <p:cNvPr id="4" name="Shape 1"/>
          <p:cNvSpPr/>
          <p:nvPr/>
        </p:nvSpPr>
        <p:spPr>
          <a:xfrm>
            <a:off x="640064" y="3977640"/>
            <a:ext cx="2011680" cy="54864"/>
          </a:xfrm>
          <a:prstGeom prst="rect">
            <a:avLst/>
          </a:prstGeom>
          <a:solidFill>
            <a:srgbClr val="53E6E5"/>
          </a:solidFill>
          <a:ln/>
        </p:spPr>
      </p:sp>
      <p:sp>
        <p:nvSpPr>
          <p:cNvPr id="5" name="Text 2"/>
          <p:cNvSpPr/>
          <p:nvPr/>
        </p:nvSpPr>
        <p:spPr>
          <a:xfrm>
            <a:off x="640064" y="4206240"/>
            <a:ext cx="8511022" cy="1463040"/>
          </a:xfrm>
          <a:prstGeom prst="rect">
            <a:avLst/>
          </a:prstGeom>
          <a:noFill/>
          <a:ln/>
        </p:spPr>
        <p:txBody>
          <a:bodyPr wrap="square" lIns="0" tIns="0" rIns="0" bIns="0" rtlCol="0" anchor="ctr"/>
          <a:lstStyle/>
          <a:p>
            <a:pPr indent="0" marL="0">
              <a:lnSpc>
                <a:spcPts val="3000"/>
              </a:lnSpc>
              <a:buNone/>
            </a:pPr>
            <a:r>
              <a:rPr lang="en-US" sz="2200" b="1" dirty="0">
                <a:solidFill>
                  <a:srgbClr val="FFFFFF"/>
                </a:solidFill>
                <a:latin typeface="Archivo" pitchFamily="34" charset="0"/>
                <a:ea typeface="Archivo" pitchFamily="34" charset="-122"/>
                <a:cs typeface="Archivo" pitchFamily="34" charset="-120"/>
              </a:rPr>
              <a:t>Because she can move between the dancefloor, the committee room, the funder meeting and the evidence base without losing the truth of the culture.</a:t>
            </a:r>
            <a:endParaRPr lang="en-US" sz="22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3600"/>
              </a:lnSpc>
              <a:buNone/>
            </a:pPr>
            <a:r>
              <a:rPr lang="en-US" sz="3200" dirty="0" cap="all">
                <a:solidFill>
                  <a:srgbClr val="2D2D2D"/>
                </a:solidFill>
                <a:latin typeface="Archivo Black" pitchFamily="34" charset="0"/>
                <a:ea typeface="Archivo Black" pitchFamily="34" charset="-122"/>
                <a:cs typeface="Archivo Black" pitchFamily="34" charset="-120"/>
              </a:rPr>
              <a:t>Twenty years of building the conditions for culture to thrive</a:t>
            </a:r>
            <a:endParaRPr lang="en-US" sz="3200" dirty="0"/>
          </a:p>
        </p:txBody>
      </p:sp>
      <p:sp>
        <p:nvSpPr>
          <p:cNvPr id="4" name="Shape 1"/>
          <p:cNvSpPr/>
          <p:nvPr/>
        </p:nvSpPr>
        <p:spPr>
          <a:xfrm>
            <a:off x="640064" y="2377440"/>
            <a:ext cx="2011680" cy="54864"/>
          </a:xfrm>
          <a:prstGeom prst="rect">
            <a:avLst/>
          </a:prstGeom>
          <a:solidFill>
            <a:srgbClr val="0000FF"/>
          </a:solidFill>
          <a:ln/>
        </p:spPr>
      </p:sp>
      <p:sp>
        <p:nvSpPr>
          <p:cNvPr id="5" name="Text 2"/>
          <p:cNvSpPr/>
          <p:nvPr/>
        </p:nvSpPr>
        <p:spPr>
          <a:xfrm>
            <a:off x="640064" y="2606040"/>
            <a:ext cx="9383948" cy="3246143"/>
          </a:xfrm>
          <a:prstGeom prst="rect">
            <a:avLst/>
          </a:prstGeom>
          <a:noFill/>
          <a:ln/>
        </p:spPr>
        <p:txBody>
          <a:bodyPr wrap="square" lIns="0" tIns="0" rIns="0" bIns="0" rtlCol="0" anchor="t"/>
          <a:lstStyle/>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Bristol’s first Night Time Economy Advisor and founder of Bristol Nights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Three Music Cities Awards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1,000+ events produced</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£282k safety investment and 700+ workers trained</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A Ticket to the Future: four years of collaborative policy, economic and governance design</a:t>
            </a:r>
            <a:endParaRPr lang="en-US" sz="2000" dirty="0"/>
          </a:p>
        </p:txBody>
      </p:sp>
      <p:pic>
        <p:nvPicPr>
          <p:cNvPr id="6"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A Ticket to the Future</a:t>
            </a:r>
            <a:endParaRPr lang="en-US" sz="4000" dirty="0"/>
          </a:p>
        </p:txBody>
      </p:sp>
      <p:sp>
        <p:nvSpPr>
          <p:cNvPr id="4" name="Shape 1"/>
          <p:cNvSpPr/>
          <p:nvPr/>
        </p:nvSpPr>
        <p:spPr>
          <a:xfrm>
            <a:off x="640064" y="2880360"/>
            <a:ext cx="2011680" cy="54864"/>
          </a:xfrm>
          <a:prstGeom prst="rect">
            <a:avLst/>
          </a:prstGeom>
          <a:solidFill>
            <a:srgbClr val="0000FF"/>
          </a:solidFill>
          <a:ln/>
        </p:spPr>
      </p:sp>
      <p:sp>
        <p:nvSpPr>
          <p:cNvPr id="5" name="Text 2"/>
          <p:cNvSpPr/>
          <p:nvPr/>
        </p:nvSpPr>
        <p:spPr>
          <a:xfrm>
            <a:off x="640064" y="3154680"/>
            <a:ext cx="8729254" cy="2011680"/>
          </a:xfrm>
          <a:prstGeom prst="rect">
            <a:avLst/>
          </a:prstGeom>
          <a:noFill/>
          <a:ln/>
        </p:spPr>
        <p:txBody>
          <a:bodyPr wrap="square" lIns="0" tIns="0" rIns="0" bIns="0" rtlCol="0" anchor="ctr"/>
          <a:lstStyle/>
          <a:p>
            <a:pPr indent="0" marL="0">
              <a:lnSpc>
                <a:spcPts val="3000"/>
              </a:lnSpc>
              <a:buNone/>
            </a:pPr>
            <a:r>
              <a:rPr lang="en-US" sz="2000" dirty="0">
                <a:solidFill>
                  <a:srgbClr val="0D0D0D"/>
                </a:solidFill>
                <a:latin typeface="Inter" pitchFamily="34" charset="0"/>
                <a:ea typeface="Inter" pitchFamily="34" charset="-122"/>
                <a:cs typeface="Inter" pitchFamily="34" charset="-120"/>
              </a:rPr>
              <a:t>A collaborative response to a systemic problem: how Bristol’s music community can create an enduring source of investment and have a meaningful say in its own future. Developed through design thinking, restorative economics and a process centred on the music community.</a:t>
            </a:r>
            <a:endParaRPr lang="en-US" sz="2000" dirty="0"/>
          </a:p>
        </p:txBody>
      </p:sp>
      <p:pic>
        <p:nvPicPr>
          <p:cNvPr id="6"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000"/>
              </a:lnSpc>
              <a:buNone/>
            </a:pPr>
            <a:r>
              <a:rPr lang="en-US" sz="3600" dirty="0" cap="all">
                <a:solidFill>
                  <a:srgbClr val="2D2D2D"/>
                </a:solidFill>
                <a:latin typeface="Archivo Black" pitchFamily="34" charset="0"/>
                <a:ea typeface="Archivo Black" pitchFamily="34" charset="-122"/>
                <a:cs typeface="Archivo Black" pitchFamily="34" charset="-120"/>
              </a:rPr>
              <a:t>From Bristol delivery to transferable infrastructure</a:t>
            </a:r>
            <a:endParaRPr lang="en-US" sz="3600" dirty="0"/>
          </a:p>
        </p:txBody>
      </p:sp>
      <p:sp>
        <p:nvSpPr>
          <p:cNvPr id="4" name="Shape 1"/>
          <p:cNvSpPr/>
          <p:nvPr/>
        </p:nvSpPr>
        <p:spPr>
          <a:xfrm>
            <a:off x="640064" y="2834640"/>
            <a:ext cx="5272904" cy="2880383"/>
          </a:xfrm>
          <a:prstGeom prst="rect">
            <a:avLst/>
          </a:prstGeom>
          <a:solidFill>
            <a:srgbClr val="FFFFFF"/>
          </a:solidFill>
          <a:ln w="9525">
            <a:solidFill>
              <a:srgbClr val="0D0D0D">
                <a:alpha val="22000"/>
              </a:srgbClr>
            </a:solidFill>
            <a:prstDash val="solid"/>
          </a:ln>
        </p:spPr>
      </p:sp>
      <p:sp>
        <p:nvSpPr>
          <p:cNvPr id="5" name="Text 2"/>
          <p:cNvSpPr/>
          <p:nvPr/>
        </p:nvSpPr>
        <p:spPr>
          <a:xfrm>
            <a:off x="914384" y="3108960"/>
            <a:ext cx="4724264" cy="365760"/>
          </a:xfrm>
          <a:prstGeom prst="rect">
            <a:avLst/>
          </a:prstGeom>
          <a:noFill/>
          <a:ln/>
        </p:spPr>
        <p:txBody>
          <a:bodyPr wrap="square" lIns="0" tIns="0" rIns="0" bIns="0" rtlCol="0" anchor="ctr"/>
          <a:lstStyle/>
          <a:p>
            <a:pPr indent="0" marL="0">
              <a:buNone/>
            </a:pPr>
            <a:r>
              <a:rPr lang="en-US" sz="1800" b="1" spc="200" kern="0" dirty="0" cap="all">
                <a:solidFill>
                  <a:srgbClr val="0D0D0D"/>
                </a:solidFill>
                <a:latin typeface="Archivo" pitchFamily="34" charset="0"/>
                <a:ea typeface="Archivo" pitchFamily="34" charset="-122"/>
                <a:cs typeface="Archivo" pitchFamily="34" charset="-120"/>
              </a:rPr>
              <a:t>WECA</a:t>
            </a:r>
            <a:endParaRPr lang="en-US" sz="1800" dirty="0"/>
          </a:p>
        </p:txBody>
      </p:sp>
      <p:sp>
        <p:nvSpPr>
          <p:cNvPr id="6" name="Text 3"/>
          <p:cNvSpPr/>
          <p:nvPr/>
        </p:nvSpPr>
        <p:spPr>
          <a:xfrm>
            <a:off x="914384" y="3611880"/>
            <a:ext cx="4724264" cy="1874543"/>
          </a:xfrm>
          <a:prstGeom prst="rect">
            <a:avLst/>
          </a:prstGeom>
          <a:noFill/>
          <a:ln/>
        </p:spPr>
        <p:txBody>
          <a:bodyPr wrap="square" lIns="0" tIns="0" rIns="0" bIns="0" rtlCol="0" anchor="ctr"/>
          <a:lstStyle/>
          <a:p>
            <a:pPr indent="0" marL="0">
              <a:lnSpc>
                <a:spcPts val="2500"/>
              </a:lnSpc>
              <a:buNone/>
            </a:pPr>
            <a:r>
              <a:rPr lang="en-US" sz="1800" dirty="0">
                <a:solidFill>
                  <a:srgbClr val="0D0D0D"/>
                </a:solidFill>
                <a:latin typeface="Inter" pitchFamily="34" charset="0"/>
                <a:ea typeface="Inter" pitchFamily="34" charset="-122"/>
                <a:cs typeface="Inter" pitchFamily="34" charset="-120"/>
              </a:rPr>
              <a:t>supports establishment of the Community Benefit Society and Bristol delivery.</a:t>
            </a:r>
            <a:endParaRPr lang="en-US" sz="1800" dirty="0"/>
          </a:p>
        </p:txBody>
      </p:sp>
      <p:sp>
        <p:nvSpPr>
          <p:cNvPr id="7" name="Shape 4"/>
          <p:cNvSpPr/>
          <p:nvPr/>
        </p:nvSpPr>
        <p:spPr>
          <a:xfrm>
            <a:off x="6278728" y="2834640"/>
            <a:ext cx="5272904" cy="2880383"/>
          </a:xfrm>
          <a:prstGeom prst="rect">
            <a:avLst/>
          </a:prstGeom>
          <a:solidFill>
            <a:srgbClr val="53E6E5"/>
          </a:solidFill>
          <a:ln/>
        </p:spPr>
      </p:sp>
      <p:sp>
        <p:nvSpPr>
          <p:cNvPr id="8" name="Text 5"/>
          <p:cNvSpPr/>
          <p:nvPr/>
        </p:nvSpPr>
        <p:spPr>
          <a:xfrm>
            <a:off x="6553048" y="3108960"/>
            <a:ext cx="4724264" cy="365760"/>
          </a:xfrm>
          <a:prstGeom prst="rect">
            <a:avLst/>
          </a:prstGeom>
          <a:noFill/>
          <a:ln/>
        </p:spPr>
        <p:txBody>
          <a:bodyPr wrap="square" lIns="0" tIns="0" rIns="0" bIns="0" rtlCol="0" anchor="ctr"/>
          <a:lstStyle/>
          <a:p>
            <a:pPr indent="0" marL="0">
              <a:buNone/>
            </a:pPr>
            <a:r>
              <a:rPr lang="en-US" sz="1800" b="1" spc="200" kern="0" dirty="0" cap="all">
                <a:solidFill>
                  <a:srgbClr val="0D0D0D"/>
                </a:solidFill>
                <a:latin typeface="Archivo" pitchFamily="34" charset="0"/>
                <a:ea typeface="Archivo" pitchFamily="34" charset="-122"/>
                <a:cs typeface="Archivo" pitchFamily="34" charset="-120"/>
              </a:rPr>
              <a:t>UKDF</a:t>
            </a:r>
            <a:endParaRPr lang="en-US" sz="1800" dirty="0"/>
          </a:p>
        </p:txBody>
      </p:sp>
      <p:sp>
        <p:nvSpPr>
          <p:cNvPr id="9" name="Text 6"/>
          <p:cNvSpPr/>
          <p:nvPr/>
        </p:nvSpPr>
        <p:spPr>
          <a:xfrm>
            <a:off x="6553048" y="3611880"/>
            <a:ext cx="4724264" cy="1874543"/>
          </a:xfrm>
          <a:prstGeom prst="rect">
            <a:avLst/>
          </a:prstGeom>
          <a:noFill/>
          <a:ln/>
        </p:spPr>
        <p:txBody>
          <a:bodyPr wrap="square" lIns="0" tIns="0" rIns="0" bIns="0" rtlCol="0" anchor="ctr"/>
          <a:lstStyle/>
          <a:p>
            <a:pPr indent="0" marL="0">
              <a:lnSpc>
                <a:spcPts val="2500"/>
              </a:lnSpc>
              <a:buNone/>
            </a:pPr>
            <a:r>
              <a:rPr lang="en-US" sz="1800" dirty="0">
                <a:solidFill>
                  <a:srgbClr val="0D0D0D"/>
                </a:solidFill>
                <a:latin typeface="Inter" pitchFamily="34" charset="0"/>
                <a:ea typeface="Inter" pitchFamily="34" charset="-122"/>
                <a:cs typeface="Inter" pitchFamily="34" charset="-120"/>
              </a:rPr>
              <a:t>supports the distinct inquiry, evidence and method that can help more local cultural communities build power.</a:t>
            </a:r>
            <a:endParaRPr lang="en-US" sz="1800" dirty="0"/>
          </a:p>
        </p:txBody>
      </p:sp>
      <p:pic>
        <p:nvPicPr>
          <p:cNvPr id="10"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11" name="Text 7"/>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p:bgPr>
    </p:bg>
    <p:spTree>
      <p:nvGrpSpPr>
        <p:cNvPr id="1" name=""/>
        <p:cNvGrpSpPr/>
        <p:nvPr/>
      </p:nvGrpSpPr>
      <p:grpSpPr>
        <a:xfrm>
          <a:off x="0" y="0"/>
          <a:ext cx="0" cy="0"/>
          <a:chOff x="0" y="0"/>
          <a:chExt cx="0" cy="0"/>
        </a:xfrm>
      </p:grpSpPr>
      <p:sp>
        <p:nvSpPr>
          <p:cNvPr id="3" name="Text 0"/>
          <p:cNvSpPr/>
          <p:nvPr/>
        </p:nvSpPr>
        <p:spPr>
          <a:xfrm>
            <a:off x="640064" y="548663"/>
            <a:ext cx="10911567" cy="777240"/>
          </a:xfrm>
          <a:prstGeom prst="rect">
            <a:avLst/>
          </a:prstGeom>
          <a:noFill/>
          <a:ln/>
        </p:spPr>
        <p:txBody>
          <a:bodyPr wrap="square" lIns="0" tIns="0" rIns="0" bIns="0" rtlCol="0" anchor="ctr"/>
          <a:lstStyle/>
          <a:p>
            <a:pPr indent="0" marL="0">
              <a:buNone/>
            </a:pPr>
            <a:r>
              <a:rPr lang="en-US" sz="3600" dirty="0" cap="all">
                <a:solidFill>
                  <a:srgbClr val="53E6E5"/>
                </a:solidFill>
                <a:latin typeface="Archivo Black" pitchFamily="34" charset="0"/>
                <a:ea typeface="Archivo Black" pitchFamily="34" charset="-122"/>
                <a:cs typeface="Archivo Black" pitchFamily="34" charset="-120"/>
              </a:rPr>
              <a:t>Five inquiry strands</a:t>
            </a:r>
            <a:endParaRPr lang="en-US" sz="3600" dirty="0"/>
          </a:p>
        </p:txBody>
      </p:sp>
      <p:sp>
        <p:nvSpPr>
          <p:cNvPr id="4" name="Shape 1"/>
          <p:cNvSpPr/>
          <p:nvPr/>
        </p:nvSpPr>
        <p:spPr>
          <a:xfrm>
            <a:off x="640064" y="1481328"/>
            <a:ext cx="10911567" cy="786389"/>
          </a:xfrm>
          <a:prstGeom prst="rect">
            <a:avLst/>
          </a:prstGeom>
          <a:solidFill>
            <a:srgbClr val="53E6E5"/>
          </a:solidFill>
          <a:ln/>
        </p:spPr>
      </p:sp>
      <p:sp>
        <p:nvSpPr>
          <p:cNvPr id="5" name="Text 2"/>
          <p:cNvSpPr/>
          <p:nvPr/>
        </p:nvSpPr>
        <p:spPr>
          <a:xfrm>
            <a:off x="868664" y="1481328"/>
            <a:ext cx="2468880" cy="786389"/>
          </a:xfrm>
          <a:prstGeom prst="rect">
            <a:avLst/>
          </a:prstGeom>
          <a:noFill/>
          <a:ln/>
        </p:spPr>
        <p:txBody>
          <a:bodyPr wrap="square" lIns="0" tIns="0" rIns="0" bIns="0" rtlCol="0" anchor="ctr"/>
          <a:lstStyle/>
          <a:p>
            <a:pPr indent="0" marL="0">
              <a:lnSpc>
                <a:spcPts val="1600"/>
              </a:lnSpc>
              <a:buNone/>
            </a:pPr>
            <a:r>
              <a:rPr lang="en-US" sz="1400" b="1" spc="100" kern="0" dirty="0" cap="all">
                <a:solidFill>
                  <a:srgbClr val="0D0D0D"/>
                </a:solidFill>
                <a:latin typeface="Archivo" pitchFamily="34" charset="0"/>
                <a:ea typeface="Archivo" pitchFamily="34" charset="-122"/>
                <a:cs typeface="Archivo" pitchFamily="34" charset="-120"/>
              </a:rPr>
              <a:t>How night makes people</a:t>
            </a:r>
            <a:endParaRPr lang="en-US" sz="1400" dirty="0"/>
          </a:p>
        </p:txBody>
      </p:sp>
      <p:sp>
        <p:nvSpPr>
          <p:cNvPr id="6" name="Text 3"/>
          <p:cNvSpPr/>
          <p:nvPr/>
        </p:nvSpPr>
        <p:spPr>
          <a:xfrm>
            <a:off x="3520424" y="1554480"/>
            <a:ext cx="7802607" cy="640085"/>
          </a:xfrm>
          <a:prstGeom prst="rect">
            <a:avLst/>
          </a:prstGeom>
          <a:noFill/>
          <a:ln/>
        </p:spPr>
        <p:txBody>
          <a:bodyPr wrap="square" lIns="0" tIns="0" rIns="0" bIns="0" rtlCol="0" anchor="ctr"/>
          <a:lstStyle/>
          <a:p>
            <a:pPr indent="0" marL="0">
              <a:lnSpc>
                <a:spcPts val="1700"/>
              </a:lnSpc>
              <a:buNone/>
            </a:pPr>
            <a:r>
              <a:rPr lang="en-US" sz="1400" dirty="0">
                <a:solidFill>
                  <a:srgbClr val="0D0D0D"/>
                </a:solidFill>
                <a:latin typeface="Inter" pitchFamily="34" charset="0"/>
                <a:ea typeface="Inter" pitchFamily="34" charset="-122"/>
                <a:cs typeface="Inter" pitchFamily="34" charset="-120"/>
              </a:rPr>
              <a:t>Explore nightlife as an informal talent programme: where people develop agency, identity, craft, confidence, networks, collaboration and leadership before formal systems recognise them.</a:t>
            </a:r>
            <a:endParaRPr lang="en-US" sz="1400" dirty="0"/>
          </a:p>
        </p:txBody>
      </p:sp>
      <p:sp>
        <p:nvSpPr>
          <p:cNvPr id="7" name="Shape 4"/>
          <p:cNvSpPr/>
          <p:nvPr/>
        </p:nvSpPr>
        <p:spPr>
          <a:xfrm>
            <a:off x="640064" y="2377445"/>
            <a:ext cx="10911567" cy="786389"/>
          </a:xfrm>
          <a:prstGeom prst="rect">
            <a:avLst/>
          </a:prstGeom>
          <a:solidFill>
            <a:srgbClr val="FFDE6B"/>
          </a:solidFill>
          <a:ln/>
        </p:spPr>
      </p:sp>
      <p:sp>
        <p:nvSpPr>
          <p:cNvPr id="8" name="Text 5"/>
          <p:cNvSpPr/>
          <p:nvPr/>
        </p:nvSpPr>
        <p:spPr>
          <a:xfrm>
            <a:off x="868664" y="2377445"/>
            <a:ext cx="2468880" cy="786389"/>
          </a:xfrm>
          <a:prstGeom prst="rect">
            <a:avLst/>
          </a:prstGeom>
          <a:noFill/>
          <a:ln/>
        </p:spPr>
        <p:txBody>
          <a:bodyPr wrap="square" lIns="0" tIns="0" rIns="0" bIns="0" rtlCol="0" anchor="ctr"/>
          <a:lstStyle/>
          <a:p>
            <a:pPr indent="0" marL="0">
              <a:lnSpc>
                <a:spcPts val="1600"/>
              </a:lnSpc>
              <a:buNone/>
            </a:pPr>
            <a:r>
              <a:rPr lang="en-US" sz="1400" b="1" spc="100" kern="0" dirty="0" cap="all">
                <a:solidFill>
                  <a:srgbClr val="0D0D0D"/>
                </a:solidFill>
                <a:latin typeface="Archivo" pitchFamily="34" charset="0"/>
                <a:ea typeface="Archivo" pitchFamily="34" charset="-122"/>
                <a:cs typeface="Archivo" pitchFamily="34" charset="-120"/>
              </a:rPr>
              <a:t>How people make places</a:t>
            </a:r>
            <a:endParaRPr lang="en-US" sz="1400" dirty="0"/>
          </a:p>
        </p:txBody>
      </p:sp>
      <p:sp>
        <p:nvSpPr>
          <p:cNvPr id="9" name="Text 6"/>
          <p:cNvSpPr/>
          <p:nvPr/>
        </p:nvSpPr>
        <p:spPr>
          <a:xfrm>
            <a:off x="3520424" y="2450597"/>
            <a:ext cx="7802607" cy="640085"/>
          </a:xfrm>
          <a:prstGeom prst="rect">
            <a:avLst/>
          </a:prstGeom>
          <a:noFill/>
          <a:ln/>
        </p:spPr>
        <p:txBody>
          <a:bodyPr wrap="square" lIns="0" tIns="0" rIns="0" bIns="0" rtlCol="0" anchor="ctr"/>
          <a:lstStyle/>
          <a:p>
            <a:pPr indent="0" marL="0">
              <a:lnSpc>
                <a:spcPts val="1700"/>
              </a:lnSpc>
              <a:buNone/>
            </a:pPr>
            <a:r>
              <a:rPr lang="en-US" sz="1400" dirty="0">
                <a:solidFill>
                  <a:srgbClr val="0D0D0D"/>
                </a:solidFill>
                <a:latin typeface="Inter" pitchFamily="34" charset="0"/>
                <a:ea typeface="Inter" pitchFamily="34" charset="-122"/>
                <a:cs typeface="Inter" pitchFamily="34" charset="-120"/>
              </a:rPr>
              <a:t>Trace how artists, organisers, venues, crews, advocates and sonic communities create the distinct cultural life, reputation and future possibility of place.</a:t>
            </a:r>
            <a:endParaRPr lang="en-US" sz="1400" dirty="0"/>
          </a:p>
        </p:txBody>
      </p:sp>
      <p:sp>
        <p:nvSpPr>
          <p:cNvPr id="10" name="Shape 7"/>
          <p:cNvSpPr/>
          <p:nvPr/>
        </p:nvSpPr>
        <p:spPr>
          <a:xfrm>
            <a:off x="640064" y="3273561"/>
            <a:ext cx="10911567" cy="786389"/>
          </a:xfrm>
          <a:prstGeom prst="rect">
            <a:avLst/>
          </a:prstGeom>
          <a:solidFill>
            <a:srgbClr val="ED77C2"/>
          </a:solidFill>
          <a:ln/>
        </p:spPr>
      </p:sp>
      <p:sp>
        <p:nvSpPr>
          <p:cNvPr id="11" name="Text 8"/>
          <p:cNvSpPr/>
          <p:nvPr/>
        </p:nvSpPr>
        <p:spPr>
          <a:xfrm>
            <a:off x="868664" y="3273561"/>
            <a:ext cx="2468880" cy="786389"/>
          </a:xfrm>
          <a:prstGeom prst="rect">
            <a:avLst/>
          </a:prstGeom>
          <a:noFill/>
          <a:ln/>
        </p:spPr>
        <p:txBody>
          <a:bodyPr wrap="square" lIns="0" tIns="0" rIns="0" bIns="0" rtlCol="0" anchor="ctr"/>
          <a:lstStyle/>
          <a:p>
            <a:pPr indent="0" marL="0">
              <a:lnSpc>
                <a:spcPts val="1600"/>
              </a:lnSpc>
              <a:buNone/>
            </a:pPr>
            <a:r>
              <a:rPr lang="en-US" sz="1400" b="1" spc="100" kern="0" dirty="0" cap="all">
                <a:solidFill>
                  <a:srgbClr val="0D0D0D"/>
                </a:solidFill>
                <a:latin typeface="Archivo" pitchFamily="34" charset="0"/>
                <a:ea typeface="Archivo" pitchFamily="34" charset="-122"/>
                <a:cs typeface="Archivo" pitchFamily="34" charset="-120"/>
              </a:rPr>
              <a:t>Follow the value</a:t>
            </a:r>
            <a:endParaRPr lang="en-US" sz="1400" dirty="0"/>
          </a:p>
        </p:txBody>
      </p:sp>
      <p:sp>
        <p:nvSpPr>
          <p:cNvPr id="12" name="Text 9"/>
          <p:cNvSpPr/>
          <p:nvPr/>
        </p:nvSpPr>
        <p:spPr>
          <a:xfrm>
            <a:off x="3520424" y="3346713"/>
            <a:ext cx="7802607" cy="640085"/>
          </a:xfrm>
          <a:prstGeom prst="rect">
            <a:avLst/>
          </a:prstGeom>
          <a:noFill/>
          <a:ln/>
        </p:spPr>
        <p:txBody>
          <a:bodyPr wrap="square" lIns="0" tIns="0" rIns="0" bIns="0" rtlCol="0" anchor="ctr"/>
          <a:lstStyle/>
          <a:p>
            <a:pPr indent="0" marL="0">
              <a:lnSpc>
                <a:spcPts val="1700"/>
              </a:lnSpc>
              <a:buNone/>
            </a:pPr>
            <a:r>
              <a:rPr lang="en-US" sz="1400" dirty="0">
                <a:solidFill>
                  <a:srgbClr val="0D0D0D"/>
                </a:solidFill>
                <a:latin typeface="Inter" pitchFamily="34" charset="0"/>
                <a:ea typeface="Inter" pitchFamily="34" charset="-122"/>
                <a:cs typeface="Inter" pitchFamily="34" charset="-120"/>
              </a:rPr>
              <a:t>Follow how cultural, social, civic and economic value is created, where it travels, who captures it and which contributors remain under-resourced. A Ticket to the Future provides a live restorative-economics case.</a:t>
            </a:r>
            <a:endParaRPr lang="en-US" sz="1400" dirty="0"/>
          </a:p>
        </p:txBody>
      </p:sp>
      <p:sp>
        <p:nvSpPr>
          <p:cNvPr id="13" name="Shape 10"/>
          <p:cNvSpPr/>
          <p:nvPr/>
        </p:nvSpPr>
        <p:spPr>
          <a:xfrm>
            <a:off x="640064" y="4169678"/>
            <a:ext cx="10911567" cy="786389"/>
          </a:xfrm>
          <a:prstGeom prst="rect">
            <a:avLst/>
          </a:prstGeom>
          <a:solidFill>
            <a:srgbClr val="B98CFF"/>
          </a:solidFill>
          <a:ln/>
        </p:spPr>
      </p:sp>
      <p:sp>
        <p:nvSpPr>
          <p:cNvPr id="14" name="Text 11"/>
          <p:cNvSpPr/>
          <p:nvPr/>
        </p:nvSpPr>
        <p:spPr>
          <a:xfrm>
            <a:off x="868664" y="4169678"/>
            <a:ext cx="2468880" cy="786389"/>
          </a:xfrm>
          <a:prstGeom prst="rect">
            <a:avLst/>
          </a:prstGeom>
          <a:noFill/>
          <a:ln/>
        </p:spPr>
        <p:txBody>
          <a:bodyPr wrap="square" lIns="0" tIns="0" rIns="0" bIns="0" rtlCol="0" anchor="ctr"/>
          <a:lstStyle/>
          <a:p>
            <a:pPr indent="0" marL="0">
              <a:lnSpc>
                <a:spcPts val="1600"/>
              </a:lnSpc>
              <a:buNone/>
            </a:pPr>
            <a:r>
              <a:rPr lang="en-US" sz="1400" b="1" spc="100" kern="0" dirty="0" cap="all">
                <a:solidFill>
                  <a:srgbClr val="0D0D0D"/>
                </a:solidFill>
                <a:latin typeface="Archivo" pitchFamily="34" charset="0"/>
                <a:ea typeface="Archivo" pitchFamily="34" charset="-122"/>
                <a:cs typeface="Archivo" pitchFamily="34" charset="-120"/>
              </a:rPr>
              <a:t>Test what helps</a:t>
            </a:r>
            <a:endParaRPr lang="en-US" sz="1400" dirty="0"/>
          </a:p>
        </p:txBody>
      </p:sp>
      <p:sp>
        <p:nvSpPr>
          <p:cNvPr id="15" name="Text 12"/>
          <p:cNvSpPr/>
          <p:nvPr/>
        </p:nvSpPr>
        <p:spPr>
          <a:xfrm>
            <a:off x="3520424" y="4242830"/>
            <a:ext cx="7802607" cy="640085"/>
          </a:xfrm>
          <a:prstGeom prst="rect">
            <a:avLst/>
          </a:prstGeom>
          <a:noFill/>
          <a:ln/>
        </p:spPr>
        <p:txBody>
          <a:bodyPr wrap="square" lIns="0" tIns="0" rIns="0" bIns="0" rtlCol="0" anchor="ctr"/>
          <a:lstStyle/>
          <a:p>
            <a:pPr indent="0" marL="0">
              <a:lnSpc>
                <a:spcPts val="1700"/>
              </a:lnSpc>
              <a:buNone/>
            </a:pPr>
            <a:r>
              <a:rPr lang="en-US" sz="1400" dirty="0">
                <a:solidFill>
                  <a:srgbClr val="0D0D0D"/>
                </a:solidFill>
                <a:latin typeface="Inter" pitchFamily="34" charset="0"/>
                <a:ea typeface="Inter" pitchFamily="34" charset="-122"/>
                <a:cs typeface="Inter" pitchFamily="34" charset="-120"/>
              </a:rPr>
              <a:t>Develop and test the foundations of the proposed Nightlife Cultural Value Index and other practical tools that help local advocates, policymakers, funders and investors see, strengthen and act on nightlife’s value.</a:t>
            </a:r>
            <a:endParaRPr lang="en-US" sz="1400" dirty="0"/>
          </a:p>
        </p:txBody>
      </p:sp>
      <p:sp>
        <p:nvSpPr>
          <p:cNvPr id="16" name="Shape 13"/>
          <p:cNvSpPr/>
          <p:nvPr/>
        </p:nvSpPr>
        <p:spPr>
          <a:xfrm>
            <a:off x="640064" y="5065794"/>
            <a:ext cx="10911567" cy="786389"/>
          </a:xfrm>
          <a:prstGeom prst="rect">
            <a:avLst/>
          </a:prstGeom>
          <a:solidFill>
            <a:srgbClr val="FD7B53"/>
          </a:solidFill>
          <a:ln/>
        </p:spPr>
      </p:sp>
      <p:sp>
        <p:nvSpPr>
          <p:cNvPr id="17" name="Text 14"/>
          <p:cNvSpPr/>
          <p:nvPr/>
        </p:nvSpPr>
        <p:spPr>
          <a:xfrm>
            <a:off x="868664" y="5065794"/>
            <a:ext cx="2468880" cy="786389"/>
          </a:xfrm>
          <a:prstGeom prst="rect">
            <a:avLst/>
          </a:prstGeom>
          <a:noFill/>
          <a:ln/>
        </p:spPr>
        <p:txBody>
          <a:bodyPr wrap="square" lIns="0" tIns="0" rIns="0" bIns="0" rtlCol="0" anchor="ctr"/>
          <a:lstStyle/>
          <a:p>
            <a:pPr indent="0" marL="0">
              <a:lnSpc>
                <a:spcPts val="1600"/>
              </a:lnSpc>
              <a:buNone/>
            </a:pPr>
            <a:r>
              <a:rPr lang="en-US" sz="1400" b="1" spc="100" kern="0" dirty="0" cap="all">
                <a:solidFill>
                  <a:srgbClr val="0D0D0D"/>
                </a:solidFill>
                <a:latin typeface="Archivo" pitchFamily="34" charset="0"/>
                <a:ea typeface="Archivo" pitchFamily="34" charset="-122"/>
                <a:cs typeface="Archivo" pitchFamily="34" charset="-120"/>
              </a:rPr>
              <a:t>Build the institution</a:t>
            </a:r>
            <a:endParaRPr lang="en-US" sz="1400" dirty="0"/>
          </a:p>
        </p:txBody>
      </p:sp>
      <p:sp>
        <p:nvSpPr>
          <p:cNvPr id="18" name="Text 15"/>
          <p:cNvSpPr/>
          <p:nvPr/>
        </p:nvSpPr>
        <p:spPr>
          <a:xfrm>
            <a:off x="3520424" y="5138946"/>
            <a:ext cx="7802607" cy="640085"/>
          </a:xfrm>
          <a:prstGeom prst="rect">
            <a:avLst/>
          </a:prstGeom>
          <a:noFill/>
          <a:ln/>
        </p:spPr>
        <p:txBody>
          <a:bodyPr wrap="square" lIns="0" tIns="0" rIns="0" bIns="0" rtlCol="0" anchor="ctr"/>
          <a:lstStyle/>
          <a:p>
            <a:pPr indent="0" marL="0">
              <a:lnSpc>
                <a:spcPts val="1700"/>
              </a:lnSpc>
              <a:buNone/>
            </a:pPr>
            <a:r>
              <a:rPr lang="en-US" sz="1400" dirty="0">
                <a:solidFill>
                  <a:srgbClr val="0D0D0D"/>
                </a:solidFill>
                <a:latin typeface="Inter" pitchFamily="34" charset="0"/>
                <a:ea typeface="Inter" pitchFamily="34" charset="-122"/>
                <a:cs typeface="Inter" pitchFamily="34" charset="-120"/>
              </a:rPr>
              <a:t>Test how Nightlife Culture can hold the method, maintain cultural legitimacy, convene specialist capacity and turn learning into future commissions, research and sector infrastructure.</a:t>
            </a:r>
            <a:endParaRPr lang="en-US" sz="1400" dirty="0"/>
          </a:p>
        </p:txBody>
      </p:sp>
      <p:pic>
        <p:nvPicPr>
          <p:cNvPr id="19"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20" name="Text 16"/>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FF"/>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4200"/>
              </a:lnSpc>
              <a:buNone/>
            </a:pPr>
            <a:r>
              <a:rPr lang="en-US" sz="4000" dirty="0" cap="all">
                <a:solidFill>
                  <a:srgbClr val="FFFFFF"/>
                </a:solidFill>
                <a:latin typeface="Archivo Black" pitchFamily="34" charset="0"/>
                <a:ea typeface="Archivo Black" pitchFamily="34" charset="-122"/>
                <a:cs typeface="Archivo Black" pitchFamily="34" charset="-120"/>
              </a:rPr>
              <a:t>The Nightlife Cultural Value Index</a:t>
            </a:r>
            <a:endParaRPr lang="en-US" sz="4000" dirty="0"/>
          </a:p>
        </p:txBody>
      </p:sp>
      <p:sp>
        <p:nvSpPr>
          <p:cNvPr id="4" name="Shape 1"/>
          <p:cNvSpPr/>
          <p:nvPr/>
        </p:nvSpPr>
        <p:spPr>
          <a:xfrm>
            <a:off x="640064" y="2880360"/>
            <a:ext cx="2011680" cy="54864"/>
          </a:xfrm>
          <a:prstGeom prst="rect">
            <a:avLst/>
          </a:prstGeom>
          <a:solidFill>
            <a:srgbClr val="53E6E5"/>
          </a:solidFill>
          <a:ln/>
        </p:spPr>
      </p:sp>
      <p:sp>
        <p:nvSpPr>
          <p:cNvPr id="5" name="Text 2"/>
          <p:cNvSpPr/>
          <p:nvPr/>
        </p:nvSpPr>
        <p:spPr>
          <a:xfrm>
            <a:off x="640064" y="3154680"/>
            <a:ext cx="8729254" cy="2011680"/>
          </a:xfrm>
          <a:prstGeom prst="rect">
            <a:avLst/>
          </a:prstGeom>
          <a:noFill/>
          <a:ln/>
        </p:spPr>
        <p:txBody>
          <a:bodyPr wrap="square" lIns="0" tIns="0" rIns="0" bIns="0" rtlCol="0" anchor="ctr"/>
          <a:lstStyle/>
          <a:p>
            <a:pPr indent="0" marL="0">
              <a:lnSpc>
                <a:spcPts val="3000"/>
              </a:lnSpc>
              <a:buNone/>
            </a:pPr>
            <a:r>
              <a:rPr lang="en-US" sz="2000" dirty="0">
                <a:solidFill>
                  <a:srgbClr val="FFFFFF"/>
                </a:solidFill>
                <a:latin typeface="Inter" pitchFamily="34" charset="0"/>
                <a:ea typeface="Inter" pitchFamily="34" charset="-122"/>
                <a:cs typeface="Inter" pitchFamily="34" charset="-120"/>
              </a:rPr>
              <a:t>The Nightlife Cultural Value Index is a proposed shared evidence layer for the cultural life of the night. It helps advocates, places, funders and researchers connect people, scenes, spaces, value and conditions for action.</a:t>
            </a:r>
            <a:endParaRPr lang="en-US" sz="20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A 10–12 month fellowship</a:t>
            </a:r>
            <a:endParaRPr lang="en-US" sz="4000" dirty="0"/>
          </a:p>
        </p:txBody>
      </p:sp>
      <p:sp>
        <p:nvSpPr>
          <p:cNvPr id="4" name="Shape 1"/>
          <p:cNvSpPr/>
          <p:nvPr/>
        </p:nvSpPr>
        <p:spPr>
          <a:xfrm>
            <a:off x="640064" y="2057400"/>
            <a:ext cx="2011680" cy="54864"/>
          </a:xfrm>
          <a:prstGeom prst="rect">
            <a:avLst/>
          </a:prstGeom>
          <a:solidFill>
            <a:srgbClr val="0000FF"/>
          </a:solidFill>
          <a:ln/>
        </p:spPr>
      </p:sp>
      <p:sp>
        <p:nvSpPr>
          <p:cNvPr id="5" name="Text 2"/>
          <p:cNvSpPr/>
          <p:nvPr/>
        </p:nvSpPr>
        <p:spPr>
          <a:xfrm>
            <a:off x="640064" y="2286000"/>
            <a:ext cx="9383948" cy="3566183"/>
          </a:xfrm>
          <a:prstGeom prst="rect">
            <a:avLst/>
          </a:prstGeom>
          <a:noFill/>
          <a:ln/>
        </p:spPr>
        <p:txBody>
          <a:bodyPr wrap="square" lIns="0" tIns="0" rIns="0" bIns="0" rtlCol="0" anchor="t"/>
          <a:lstStyle/>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Frame the inquiry</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People, scenes and place</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Follow the value</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Test what helps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Build Nightlife Culture</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Integrate and mobilise</a:t>
            </a:r>
            <a:endParaRPr lang="en-US" sz="2000" dirty="0"/>
          </a:p>
        </p:txBody>
      </p:sp>
      <p:pic>
        <p:nvPicPr>
          <p:cNvPr id="6"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64" y="594383"/>
            <a:ext cx="10911567" cy="1371600"/>
          </a:xfrm>
          <a:prstGeom prst="rect">
            <a:avLst/>
          </a:prstGeom>
          <a:noFill/>
          <a:ln/>
        </p:spPr>
        <p:txBody>
          <a:bodyPr wrap="square" lIns="0" tIns="0" rIns="0" bIns="0" rtlCol="0" anchor="ctr"/>
          <a:lstStyle/>
          <a:p>
            <a:pPr indent="0" marL="0">
              <a:lnSpc>
                <a:spcPts val="4200"/>
              </a:lnSpc>
              <a:buNone/>
            </a:pPr>
            <a:r>
              <a:rPr lang="en-US" sz="4000" dirty="0" cap="all">
                <a:solidFill>
                  <a:srgbClr val="2D2D2D"/>
                </a:solidFill>
                <a:latin typeface="Archivo Black" pitchFamily="34" charset="0"/>
                <a:ea typeface="Archivo Black" pitchFamily="34" charset="-122"/>
                <a:cs typeface="Archivo Black" pitchFamily="34" charset="-120"/>
              </a:rPr>
              <a:t>Evidence that creates new capability</a:t>
            </a:r>
            <a:endParaRPr lang="en-US" sz="4000" dirty="0"/>
          </a:p>
        </p:txBody>
      </p:sp>
      <p:sp>
        <p:nvSpPr>
          <p:cNvPr id="4" name="Shape 1"/>
          <p:cNvSpPr/>
          <p:nvPr/>
        </p:nvSpPr>
        <p:spPr>
          <a:xfrm>
            <a:off x="640064" y="2057400"/>
            <a:ext cx="2011680" cy="54864"/>
          </a:xfrm>
          <a:prstGeom prst="rect">
            <a:avLst/>
          </a:prstGeom>
          <a:solidFill>
            <a:srgbClr val="0000FF"/>
          </a:solidFill>
          <a:ln/>
        </p:spPr>
      </p:sp>
      <p:sp>
        <p:nvSpPr>
          <p:cNvPr id="5" name="Text 2"/>
          <p:cNvSpPr/>
          <p:nvPr/>
        </p:nvSpPr>
        <p:spPr>
          <a:xfrm>
            <a:off x="640064" y="2286000"/>
            <a:ext cx="9383948" cy="3566183"/>
          </a:xfrm>
          <a:prstGeom prst="rect">
            <a:avLst/>
          </a:prstGeom>
          <a:noFill/>
          <a:ln/>
        </p:spPr>
        <p:txBody>
          <a:bodyPr wrap="square" lIns="0" tIns="0" rIns="0" bIns="0" rtlCol="0" anchor="t"/>
          <a:lstStyle/>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Local advocates can make stronger cases and shape action.</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Places can see the cultural life of the night more clearly.</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Funders can find credible people and propositions.</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Researchers and sector bodies can connect local learning.</a:t>
            </a:r>
            <a:endParaRPr lang="en-US" sz="2000" dirty="0"/>
          </a:p>
          <a:p>
            <a:pPr marL="355600" indent="-355600">
              <a:lnSpc>
                <a:spcPts val="2700"/>
              </a:lnSpc>
              <a:spcAft>
                <a:spcPts val="1200"/>
              </a:spcAft>
              <a:buSzPct val="100000"/>
              <a:buChar char="—"/>
            </a:pPr>
            <a:r>
              <a:rPr lang="en-US" sz="2000" dirty="0">
                <a:solidFill>
                  <a:srgbClr val="0D0D0D"/>
                </a:solidFill>
                <a:latin typeface="Inter" pitchFamily="34" charset="0"/>
                <a:ea typeface="Inter" pitchFamily="34" charset="-122"/>
                <a:cs typeface="Inter" pitchFamily="34" charset="-120"/>
              </a:rPr>
              <a:t>Nightlife Culture can hold and expand the work.</a:t>
            </a:r>
            <a:endParaRPr lang="en-US" sz="2000" dirty="0"/>
          </a:p>
        </p:txBody>
      </p:sp>
      <p:pic>
        <p:nvPicPr>
          <p:cNvPr id="6" name="Image 0" descr="/home/claude/build/adapters/powerpoint/wordmark-blu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2D2D2D"/>
                </a:solidFill>
                <a:latin typeface="Archivo" pitchFamily="34" charset="0"/>
                <a:ea typeface="Archivo" pitchFamily="34" charset="-122"/>
                <a:cs typeface="Archivo"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D0D"/>
        </a:solidFill>
      </p:bgPr>
    </p:bg>
    <p:spTree>
      <p:nvGrpSpPr>
        <p:cNvPr id="1" name=""/>
        <p:cNvGrpSpPr/>
        <p:nvPr/>
      </p:nvGrpSpPr>
      <p:grpSpPr>
        <a:xfrm>
          <a:off x="0" y="0"/>
          <a:ext cx="0" cy="0"/>
          <a:chOff x="0" y="0"/>
          <a:chExt cx="0" cy="0"/>
        </a:xfrm>
      </p:grpSpPr>
      <p:sp>
        <p:nvSpPr>
          <p:cNvPr id="3" name="Text 0"/>
          <p:cNvSpPr/>
          <p:nvPr/>
        </p:nvSpPr>
        <p:spPr>
          <a:xfrm>
            <a:off x="640064" y="594383"/>
            <a:ext cx="10911567" cy="1737360"/>
          </a:xfrm>
          <a:prstGeom prst="rect">
            <a:avLst/>
          </a:prstGeom>
          <a:noFill/>
          <a:ln/>
        </p:spPr>
        <p:txBody>
          <a:bodyPr wrap="square" lIns="0" tIns="0" rIns="0" bIns="0" rtlCol="0" anchor="ctr"/>
          <a:lstStyle/>
          <a:p>
            <a:pPr indent="0" marL="0">
              <a:lnSpc>
                <a:spcPts val="4200"/>
              </a:lnSpc>
              <a:buNone/>
            </a:pPr>
            <a:r>
              <a:rPr lang="en-US" sz="4000" dirty="0" cap="all">
                <a:solidFill>
                  <a:srgbClr val="53E6E5"/>
                </a:solidFill>
                <a:latin typeface="Archivo Black" pitchFamily="34" charset="0"/>
                <a:ea typeface="Archivo Black" pitchFamily="34" charset="-122"/>
                <a:cs typeface="Archivo Black" pitchFamily="34" charset="-120"/>
              </a:rPr>
              <a:t>What UKDF makes possible</a:t>
            </a:r>
            <a:endParaRPr lang="en-US" sz="4000" dirty="0"/>
          </a:p>
        </p:txBody>
      </p:sp>
      <p:sp>
        <p:nvSpPr>
          <p:cNvPr id="4" name="Shape 1"/>
          <p:cNvSpPr/>
          <p:nvPr/>
        </p:nvSpPr>
        <p:spPr>
          <a:xfrm>
            <a:off x="640064" y="2880360"/>
            <a:ext cx="2011680" cy="54864"/>
          </a:xfrm>
          <a:prstGeom prst="rect">
            <a:avLst/>
          </a:prstGeom>
          <a:solidFill>
            <a:srgbClr val="53E6E5"/>
          </a:solidFill>
          <a:ln/>
        </p:spPr>
      </p:sp>
      <p:sp>
        <p:nvSpPr>
          <p:cNvPr id="5" name="Text 2"/>
          <p:cNvSpPr/>
          <p:nvPr/>
        </p:nvSpPr>
        <p:spPr>
          <a:xfrm>
            <a:off x="640064" y="3154680"/>
            <a:ext cx="8729254" cy="2011680"/>
          </a:xfrm>
          <a:prstGeom prst="rect">
            <a:avLst/>
          </a:prstGeom>
          <a:noFill/>
          <a:ln/>
        </p:spPr>
        <p:txBody>
          <a:bodyPr wrap="square" lIns="0" tIns="0" rIns="0" bIns="0" rtlCol="0" anchor="ctr"/>
          <a:lstStyle/>
          <a:p>
            <a:pPr indent="0" marL="0">
              <a:lnSpc>
                <a:spcPts val="3000"/>
              </a:lnSpc>
              <a:buNone/>
            </a:pPr>
            <a:r>
              <a:rPr lang="en-US" sz="2000" dirty="0">
                <a:solidFill>
                  <a:srgbClr val="FFFFFF"/>
                </a:solidFill>
                <a:latin typeface="Inter" pitchFamily="34" charset="0"/>
                <a:ea typeface="Inter" pitchFamily="34" charset="-122"/>
                <a:cs typeface="Inter" pitchFamily="34" charset="-120"/>
              </a:rPr>
              <a:t>Protected founder capacity, informed challenge and specialist expertise to synthesise two decades of practice, test the first method in the field, develop the NCVI evidence layer and establish the institution and next-stage proposition.</a:t>
            </a:r>
            <a:endParaRPr lang="en-US" sz="2000" dirty="0"/>
          </a:p>
        </p:txBody>
      </p:sp>
      <p:pic>
        <p:nvPicPr>
          <p:cNvPr id="6"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
        <p:nvSpPr>
          <p:cNvPr id="7" name="Text 3"/>
          <p:cNvSpPr/>
          <p:nvPr/>
        </p:nvSpPr>
        <p:spPr>
          <a:xfrm>
            <a:off x="10637231" y="6199655"/>
            <a:ext cx="914400" cy="320040"/>
          </a:xfrm>
          <a:prstGeom prst="rect">
            <a:avLst/>
          </a:prstGeom>
          <a:noFill/>
          <a:ln/>
        </p:spPr>
        <p:txBody>
          <a:bodyPr wrap="square" lIns="0" tIns="0" rIns="0" bIns="0" rtlCol="0" anchor="ctr"/>
          <a:lstStyle/>
          <a:p>
            <a:pPr algn="r" indent="0" marL="0">
              <a:buNone/>
            </a:pPr>
            <a:r>
              <a:rPr lang="en-US" sz="1400" b="1" spc="200" kern="0" dirty="0">
                <a:solidFill>
                  <a:srgbClr val="53E6E5"/>
                </a:solidFill>
                <a:latin typeface="Archivo" pitchFamily="34" charset="0"/>
                <a:ea typeface="Archivo" pitchFamily="34" charset="-122"/>
                <a:cs typeface="Archivo"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FF"/>
        </a:solidFill>
      </p:bgPr>
    </p:bg>
    <p:spTree>
      <p:nvGrpSpPr>
        <p:cNvPr id="1" name=""/>
        <p:cNvGrpSpPr/>
        <p:nvPr/>
      </p:nvGrpSpPr>
      <p:grpSpPr>
        <a:xfrm>
          <a:off x="0" y="0"/>
          <a:ext cx="0" cy="0"/>
          <a:chOff x="0" y="0"/>
          <a:chExt cx="0" cy="0"/>
        </a:xfrm>
      </p:grpSpPr>
      <p:sp>
        <p:nvSpPr>
          <p:cNvPr id="3" name="Text 0"/>
          <p:cNvSpPr/>
          <p:nvPr/>
        </p:nvSpPr>
        <p:spPr>
          <a:xfrm>
            <a:off x="640064" y="822960"/>
            <a:ext cx="10911567" cy="1737360"/>
          </a:xfrm>
          <a:prstGeom prst="rect">
            <a:avLst/>
          </a:prstGeom>
          <a:noFill/>
          <a:ln/>
        </p:spPr>
        <p:txBody>
          <a:bodyPr wrap="square" lIns="0" tIns="0" rIns="0" bIns="0" rtlCol="0" anchor="ctr"/>
          <a:lstStyle/>
          <a:p>
            <a:pPr indent="0" marL="0">
              <a:lnSpc>
                <a:spcPts val="5200"/>
              </a:lnSpc>
              <a:buNone/>
            </a:pPr>
            <a:r>
              <a:rPr lang="en-US" sz="4800" dirty="0" cap="all">
                <a:solidFill>
                  <a:srgbClr val="FFFFFF"/>
                </a:solidFill>
                <a:latin typeface="Archivo Black" pitchFamily="34" charset="0"/>
                <a:ea typeface="Archivo Black" pitchFamily="34" charset="-122"/>
                <a:cs typeface="Archivo Black" pitchFamily="34" charset="-120"/>
              </a:rPr>
              <a:t>£50,000 to create the next layer</a:t>
            </a:r>
            <a:endParaRPr lang="en-US" sz="4800" dirty="0"/>
          </a:p>
        </p:txBody>
      </p:sp>
      <p:sp>
        <p:nvSpPr>
          <p:cNvPr id="4" name="Shape 1"/>
          <p:cNvSpPr/>
          <p:nvPr/>
        </p:nvSpPr>
        <p:spPr>
          <a:xfrm>
            <a:off x="640064" y="2697480"/>
            <a:ext cx="2011680" cy="54864"/>
          </a:xfrm>
          <a:prstGeom prst="rect">
            <a:avLst/>
          </a:prstGeom>
          <a:solidFill>
            <a:srgbClr val="ED77C2"/>
          </a:solidFill>
          <a:ln/>
        </p:spPr>
      </p:sp>
      <p:sp>
        <p:nvSpPr>
          <p:cNvPr id="5" name="Text 2"/>
          <p:cNvSpPr/>
          <p:nvPr/>
        </p:nvSpPr>
        <p:spPr>
          <a:xfrm>
            <a:off x="640064" y="2926080"/>
            <a:ext cx="6765172" cy="2103120"/>
          </a:xfrm>
          <a:prstGeom prst="rect">
            <a:avLst/>
          </a:prstGeom>
          <a:noFill/>
          <a:ln/>
        </p:spPr>
        <p:txBody>
          <a:bodyPr wrap="square" lIns="0" tIns="0" rIns="0" bIns="0" rtlCol="0" anchor="t"/>
          <a:lstStyle/>
          <a:p>
            <a:pPr marL="330200" indent="-330200">
              <a:lnSpc>
                <a:spcPts val="2000"/>
              </a:lnSpc>
              <a:spcAft>
                <a:spcPts val="800"/>
              </a:spcAft>
              <a:buSzPct val="100000"/>
              <a:buChar char="—"/>
            </a:pPr>
            <a:r>
              <a:rPr lang="en-US" sz="1600" dirty="0">
                <a:solidFill>
                  <a:srgbClr val="FFFFFF"/>
                </a:solidFill>
                <a:latin typeface="Inter" pitchFamily="34" charset="0"/>
                <a:ea typeface="Inter" pitchFamily="34" charset="-122"/>
                <a:cs typeface="Inter" pitchFamily="34" charset="-120"/>
              </a:rPr>
              <a:t>£50k flexible programme resource across six phases</a:t>
            </a:r>
            <a:endParaRPr lang="en-US" sz="1600" dirty="0"/>
          </a:p>
          <a:p>
            <a:pPr marL="330200" indent="-330200">
              <a:lnSpc>
                <a:spcPts val="2000"/>
              </a:lnSpc>
              <a:spcAft>
                <a:spcPts val="800"/>
              </a:spcAft>
              <a:buSzPct val="100000"/>
              <a:buChar char="—"/>
            </a:pPr>
            <a:r>
              <a:rPr lang="en-US" sz="1600" dirty="0">
                <a:solidFill>
                  <a:srgbClr val="FFFFFF"/>
                </a:solidFill>
                <a:latin typeface="Inter" pitchFamily="34" charset="0"/>
                <a:ea typeface="Inter" pitchFamily="34" charset="-122"/>
                <a:cs typeface="Inter" pitchFamily="34" charset="-120"/>
              </a:rPr>
              <a:t>10–12 months</a:t>
            </a:r>
            <a:endParaRPr lang="en-US" sz="1600" dirty="0"/>
          </a:p>
          <a:p>
            <a:pPr marL="330200" indent="-330200">
              <a:lnSpc>
                <a:spcPts val="2000"/>
              </a:lnSpc>
              <a:spcAft>
                <a:spcPts val="800"/>
              </a:spcAft>
              <a:buSzPct val="100000"/>
              <a:buChar char="—"/>
            </a:pPr>
            <a:r>
              <a:rPr lang="en-US" sz="1600" dirty="0">
                <a:solidFill>
                  <a:srgbClr val="FFFFFF"/>
                </a:solidFill>
                <a:latin typeface="Inter" pitchFamily="34" charset="0"/>
                <a:ea typeface="Inter" pitchFamily="34" charset="-122"/>
                <a:cs typeface="Inter" pitchFamily="34" charset="-120"/>
              </a:rPr>
              <a:t>A field-backed argument</a:t>
            </a:r>
            <a:endParaRPr lang="en-US" sz="1600" dirty="0"/>
          </a:p>
          <a:p>
            <a:pPr marL="330200" indent="-330200">
              <a:lnSpc>
                <a:spcPts val="2000"/>
              </a:lnSpc>
              <a:spcAft>
                <a:spcPts val="800"/>
              </a:spcAft>
              <a:buSzPct val="100000"/>
              <a:buChar char="—"/>
            </a:pPr>
            <a:r>
              <a:rPr lang="en-US" sz="1600" dirty="0">
                <a:solidFill>
                  <a:srgbClr val="FFFFFF"/>
                </a:solidFill>
                <a:latin typeface="Inter" pitchFamily="34" charset="0"/>
                <a:ea typeface="Inter" pitchFamily="34" charset="-122"/>
                <a:cs typeface="Inter" pitchFamily="34" charset="-120"/>
              </a:rPr>
              <a:t>A tested first method</a:t>
            </a:r>
            <a:endParaRPr lang="en-US" sz="1600" dirty="0"/>
          </a:p>
          <a:p>
            <a:pPr marL="330200" indent="-330200">
              <a:lnSpc>
                <a:spcPts val="2000"/>
              </a:lnSpc>
              <a:spcAft>
                <a:spcPts val="800"/>
              </a:spcAft>
              <a:buSzPct val="100000"/>
              <a:buChar char="—"/>
            </a:pPr>
            <a:r>
              <a:rPr lang="en-US" sz="1600" dirty="0">
                <a:solidFill>
                  <a:srgbClr val="FFFFFF"/>
                </a:solidFill>
                <a:latin typeface="Inter" pitchFamily="34" charset="0"/>
                <a:ea typeface="Inter" pitchFamily="34" charset="-122"/>
                <a:cs typeface="Inter" pitchFamily="34" charset="-120"/>
              </a:rPr>
              <a:t>An investable institution</a:t>
            </a:r>
            <a:endParaRPr lang="en-US" sz="1600" dirty="0"/>
          </a:p>
          <a:p>
            <a:pPr marL="330200" indent="-330200">
              <a:lnSpc>
                <a:spcPts val="2000"/>
              </a:lnSpc>
              <a:spcAft>
                <a:spcPts val="800"/>
              </a:spcAft>
              <a:buSzPct val="100000"/>
              <a:buChar char="—"/>
            </a:pPr>
            <a:r>
              <a:rPr lang="en-US" sz="1600" dirty="0">
                <a:solidFill>
                  <a:srgbClr val="FFFFFF"/>
                </a:solidFill>
                <a:latin typeface="Inter" pitchFamily="34" charset="0"/>
                <a:ea typeface="Inter" pitchFamily="34" charset="-122"/>
                <a:cs typeface="Inter" pitchFamily="34" charset="-120"/>
              </a:rPr>
              <a:t>A fundable next phase</a:t>
            </a:r>
            <a:endParaRPr lang="en-US" sz="1600" dirty="0"/>
          </a:p>
        </p:txBody>
      </p:sp>
      <p:sp>
        <p:nvSpPr>
          <p:cNvPr id="6" name="Text 3"/>
          <p:cNvSpPr/>
          <p:nvPr/>
        </p:nvSpPr>
        <p:spPr>
          <a:xfrm>
            <a:off x="640064" y="5376695"/>
            <a:ext cx="9274832" cy="457200"/>
          </a:xfrm>
          <a:prstGeom prst="rect">
            <a:avLst/>
          </a:prstGeom>
          <a:noFill/>
          <a:ln/>
        </p:spPr>
        <p:txBody>
          <a:bodyPr wrap="square" lIns="0" tIns="0" rIns="0" bIns="0" rtlCol="0" anchor="ctr"/>
          <a:lstStyle/>
          <a:p>
            <a:pPr indent="0" marL="0">
              <a:buNone/>
            </a:pPr>
            <a:r>
              <a:rPr lang="en-US" sz="2000" b="1" dirty="0">
                <a:solidFill>
                  <a:srgbClr val="53E6E5"/>
                </a:solidFill>
                <a:latin typeface="Archivo" pitchFamily="34" charset="0"/>
                <a:ea typeface="Archivo" pitchFamily="34" charset="-122"/>
                <a:cs typeface="Archivo" pitchFamily="34" charset="-120"/>
              </a:rPr>
              <a:t>Nationally relevant infrastructure that increases hyperlocal power.</a:t>
            </a:r>
            <a:endParaRPr lang="en-US" sz="2000" dirty="0"/>
          </a:p>
        </p:txBody>
      </p:sp>
      <p:pic>
        <p:nvPicPr>
          <p:cNvPr id="7" name="Image 0" descr="/home/claude/build/adapters/powerpoint/wordmark-white.png">    </p:cNvPr>
          <p:cNvPicPr>
            <a:picLocks noChangeAspect="1"/>
          </p:cNvPicPr>
          <p:nvPr/>
        </p:nvPicPr>
        <p:blipFill>
          <a:blip r:embed="rId1"/>
          <a:stretch>
            <a:fillRect/>
          </a:stretch>
        </p:blipFill>
        <p:spPr>
          <a:xfrm>
            <a:off x="640064" y="6199655"/>
            <a:ext cx="868680"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Artists Make Great Places — UKDF Fellowship proposal</dc:title>
  <dc:subject>PptxGenJS Presentation</dc:subject>
  <dc:creator>Carly Heath · Nightlife Culture</dc:creator>
  <cp:lastModifiedBy>Carly Heath · Nightlife Culture</cp:lastModifiedBy>
  <cp:revision>1</cp:revision>
  <dcterms:created xsi:type="dcterms:W3CDTF">2026-08-17T09:40:23Z</dcterms:created>
  <dcterms:modified xsi:type="dcterms:W3CDTF">2026-08-17T09:40:23Z</dcterms:modified>
</cp:coreProperties>
</file>